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篇" id="{33641825-a88a-c5de-0388-7506e2bb4450}">
          <p14:sldIdLst>
            <p14:sldId id="256"/>
          </p14:sldIdLst>
        </p14:section>
        <p14:section name="问题与创新" id="{cda77497-81d7-1217-aa2a-a8aea71c5464}">
          <p14:sldIdLst>
            <p14:sldId id="257"/>
            <p14:sldId id="258"/>
            <p14:sldId id="259"/>
          </p14:sldIdLst>
        </p14:section>
        <p14:section name="系统" id="{d0618f57-c5f3-36b4-6f94-90329a315f6d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验证" id="{7463bd29-64cb-522d-c8e7-c6ffb857c7e5}">
          <p14:sldIdLst>
            <p14:sldId id="266"/>
            <p14:sldId id="267"/>
            <p14:sldId id="268"/>
          </p14:sldIdLst>
        </p14:section>
        <p14:section name="进度" id="{d6ece7d5-423d-845d-57f4-a0773973ab50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21E"/>
                </a:solidFill>
                <a:latin typeface="Microsoft YaHei"/>
              </a:defRPr>
            </a:pPr>
            <a:r>
              <a:rPr sz="1100" b="0" i="0" u="none" strike="noStrike">
                <a:solidFill>
                  <a:srgbClr val="1A221E"/>
                </a:solidFill>
                <a:latin typeface="Microsoft YaHei"/>
              </a:rPr>
              <a:t>每季平均株数（发病 17.8 株）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确认出的病株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1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固定巡检</c:v>
                  </c:pt>
                  <c:pt idx="1">
                    <c:v>固定·清晨拍</c:v>
                  </c:pt>
                  <c:pt idx="2">
                    <c:v>固定·按模型分确认</c:v>
                  </c:pt>
                  <c:pt idx="3">
                    <c:v>风险驱动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5.9</c:v>
                </c:pt>
                <c:pt idx="1">
                  <c:v>6.4</c:v>
                </c:pt>
                <c:pt idx="2">
                  <c:v>11.45</c:v>
                </c:pt>
                <c:pt idx="3">
                  <c:v>13.25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其中明显期前确认</c:v>
                </c:pt>
              </c:strCache>
            </c:strRef>
          </c:tx>
          <c:spPr>
            <a:solidFill>
              <a:srgbClr val="E9A8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1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固定巡检</c:v>
                  </c:pt>
                  <c:pt idx="1">
                    <c:v>固定·清晨拍</c:v>
                  </c:pt>
                  <c:pt idx="2">
                    <c:v>固定·按模型分确认</c:v>
                  </c:pt>
                  <c:pt idx="3">
                    <c:v>风险驱动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1.65</c:v>
                </c:pt>
                <c:pt idx="1">
                  <c:v>2.25</c:v>
                </c:pt>
                <c:pt idx="2">
                  <c:v>3.25</c:v>
                </c:pt>
                <c:pt idx="3">
                  <c:v>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21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4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26B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开场：巡知是一套面向设施大棚的病害主动巡检系统。第一版只做黄瓜霜霉病。右边的小网格就是系统里每株一个格子的状态图，后面会反复出现。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问题来自计划 0013 背景节。重点是前两条：看叶背、看清晨，这两点决定了采集方式；后两条说明为什么需要按株分配人工。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答辩时评委很可能问「和那个专利有什么不同」。我们的回答是：单项都有先例，创新在于把质量反馈、同株追踪和风险分配串成闭环。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三个创新点有依赖顺序：先要拍到叶背，才谈得上同株对比；有了每株状态，才能按风险分配补拍和人工。每一点都写明它降低了什么成本，这是组员讨论后定的讲法。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这是整个系统的主线。注意下方这条原则：风险高的株多拍、多看，但不会因为某株风险低就不去看它，这是为了防止模型盲区。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截图里的叶片是模拟器合成图，不是实拍。质量阈值是经验初值，等试拍照片校准。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不用轨道、不用 RTK，就能把每天的图对到同一株。株号格式和标签方式是 0014、0016-B 定的，标签贴在哪里等试拍再定。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这里要如实讲：planner-v0 是启发式规则，不是训练出来的模型。大棚没有训练好的风险模型，小麦的 risk-lr-v1 不能用在大棚。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人的时间是最贵的，所以确认流程做成一株一屏、提交就跳下一株。人工结论会覆盖模型分，成为这株的当前状态。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颜色过了色盲模拟和灰度检查，状态不只靠颜色区分。展示屏适合比赛展台，鼠标悬停暂停轮播。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数字是 20 个种子的均值，来自 reports/0017。务必先讲上面那句：模拟只证明流程跑通。拆开看，照片不变只换派人方式就能确认出 11.45 株，说明大部分收益来自把人工花在高分株上；只把巡检挪到清晨几乎没变化。提前量均值仍接近 0，是要改进的地方。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方向从小麦大田改到大棚之后，这些成果作为「方法可行」的证据保留：图块分类流程可复用到霜霉病，主动选样思路就是创新三里推人确认的基础。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模拟器、真车都通过同一份巡检包协议接入，平台代码不因数据源改变而修改。AI 只做解释层：诊断 Agent 只读，规则修订 Agent 只能起草、必须影子运行加人工审批。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硬件相关部分先写接口和假实现，器件定型后再接真驱动。试拍要尽早，秋茬结束后只剩日光温室可用。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结尾如实说清还没验证的部分，这也是评审看重的科学性。最后一条就是比赛规则里说的「可测量的效果」，需要田间对比实验回答。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3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巡知 AgriScout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C0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第二十届「挑战杯」· 科技发明制作 A 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巡知 AgriScout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设施大棚黄瓜霜霉病的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风险驱动闭环主动采集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C0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小车低位拍叶背 · 每株每天对齐 · 环境与状态决定补拍和人工确认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C0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 · 2026-10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23560" y="96012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25312" y="96012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27064" y="96012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28816" y="96012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30568" y="960120"/>
            <a:ext cx="301752" cy="301752"/>
          </a:xfrm>
          <a:prstGeom prst="rect">
            <a:avLst/>
          </a:prstGeom>
          <a:solidFill>
            <a:srgbClr val="E9A8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21094" y="1050646"/>
            <a:ext cx="120701" cy="120701"/>
          </a:xfrm>
          <a:prstGeom prst="triangle">
            <a:avLst/>
          </a:prstGeom>
          <a:solidFill>
            <a:srgbClr val="6B45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96012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2" y="96012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96012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37576" y="96012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96012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1261872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25312" y="1261872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7064" y="1261872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8816" y="1261872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0568" y="1261872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1261872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34072" y="1261872"/>
            <a:ext cx="301752" cy="301752"/>
          </a:xfrm>
          <a:prstGeom prst="rect">
            <a:avLst/>
          </a:prstGeom>
          <a:solidFill>
            <a:srgbClr val="E9A8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24598" y="1352398"/>
            <a:ext cx="120701" cy="120701"/>
          </a:xfrm>
          <a:prstGeom prst="triangle">
            <a:avLst/>
          </a:prstGeom>
          <a:solidFill>
            <a:srgbClr val="6B4500"/>
          </a:solidFill>
          <a:ln/>
        </p:spPr>
      </p:sp>
      <p:sp>
        <p:nvSpPr>
          <p:cNvPr id="26" name="Shape 24"/>
          <p:cNvSpPr/>
          <p:nvPr/>
        </p:nvSpPr>
        <p:spPr>
          <a:xfrm>
            <a:off x="7735824" y="1261872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37576" y="1261872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9328" y="1261872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3560" y="1563624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25312" y="1563624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27064" y="1563624"/>
            <a:ext cx="301752" cy="301752"/>
          </a:xfrm>
          <a:prstGeom prst="rect">
            <a:avLst/>
          </a:prstGeom>
          <a:solidFill>
            <a:srgbClr val="E9A8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17590" y="1654150"/>
            <a:ext cx="120701" cy="120701"/>
          </a:xfrm>
          <a:prstGeom prst="triangle">
            <a:avLst/>
          </a:prstGeom>
          <a:solidFill>
            <a:srgbClr val="6B4500"/>
          </a:solidFill>
          <a:ln/>
        </p:spPr>
      </p:sp>
      <p:sp>
        <p:nvSpPr>
          <p:cNvPr id="33" name="Shape 31"/>
          <p:cNvSpPr/>
          <p:nvPr/>
        </p:nvSpPr>
        <p:spPr>
          <a:xfrm>
            <a:off x="6528816" y="1563624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30568" y="1563624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1563624"/>
            <a:ext cx="301752" cy="301752"/>
          </a:xfrm>
          <a:prstGeom prst="rect">
            <a:avLst/>
          </a:prstGeom>
          <a:solidFill>
            <a:srgbClr val="A823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2846" y="1654150"/>
            <a:ext cx="120701" cy="1207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434072" y="1563624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35824" y="1563624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7576" y="1563624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39328" y="1563624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23560" y="1865376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25312" y="1865376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27064" y="1865376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28816" y="1865376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30568" y="1865376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0" y="1865376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34072" y="1865376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35824" y="1865376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37576" y="1865376"/>
            <a:ext cx="301752" cy="301752"/>
          </a:xfrm>
          <a:prstGeom prst="rect">
            <a:avLst/>
          </a:prstGeom>
          <a:solidFill>
            <a:srgbClr val="DFE4E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39328" y="1865376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23560" y="2167128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25312" y="2167128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27064" y="2167128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28816" y="2167128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30568" y="2167128"/>
            <a:ext cx="301752" cy="301752"/>
          </a:xfrm>
          <a:prstGeom prst="rect">
            <a:avLst/>
          </a:prstGeom>
          <a:solidFill>
            <a:srgbClr val="E9A8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21094" y="2257654"/>
            <a:ext cx="120701" cy="120701"/>
          </a:xfrm>
          <a:prstGeom prst="triangle">
            <a:avLst/>
          </a:prstGeom>
          <a:solidFill>
            <a:srgbClr val="6B4500"/>
          </a:solidFill>
          <a:ln/>
        </p:spPr>
      </p:sp>
      <p:sp>
        <p:nvSpPr>
          <p:cNvPr id="57" name="Shape 55"/>
          <p:cNvSpPr/>
          <p:nvPr/>
        </p:nvSpPr>
        <p:spPr>
          <a:xfrm>
            <a:off x="7132320" y="2167128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34072" y="2167128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35824" y="2167128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37576" y="2167128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39328" y="2167128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623560" y="246888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25312" y="246888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27064" y="246888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28816" y="246888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30568" y="246888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32320" y="246888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34072" y="246888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35824" y="246888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37576" y="2468880"/>
            <a:ext cx="301752" cy="301752"/>
          </a:xfrm>
          <a:prstGeom prst="rect">
            <a:avLst/>
          </a:prstGeom>
          <a:solidFill>
            <a:srgbClr val="E9A8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28102" y="2559406"/>
            <a:ext cx="120701" cy="120701"/>
          </a:xfrm>
          <a:prstGeom prst="triangle">
            <a:avLst/>
          </a:prstGeom>
          <a:solidFill>
            <a:srgbClr val="6B4500"/>
          </a:solidFill>
          <a:ln/>
        </p:spPr>
      </p:sp>
      <p:sp>
        <p:nvSpPr>
          <p:cNvPr id="72" name="Shape 70"/>
          <p:cNvSpPr/>
          <p:nvPr/>
        </p:nvSpPr>
        <p:spPr>
          <a:xfrm>
            <a:off x="8339328" y="2468880"/>
            <a:ext cx="301752" cy="301752"/>
          </a:xfrm>
          <a:prstGeom prst="rect">
            <a:avLst/>
          </a:prstGeom>
          <a:solidFill>
            <a:srgbClr val="3A9B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62356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C0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健康  ▲ 早期  ■ 明显  ○ 不明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要解决的问题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霜霉病早期征兆难看到、难跟踪、难定位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6F8F7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94360" cy="594360"/>
          </a:xfrm>
          <a:prstGeom prst="ellipse">
            <a:avLst/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356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在叶背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7830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早期征兆和确诊特征集中在下部叶片的叶背，正面俯拍看不到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6F8F7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508760"/>
            <a:ext cx="594360" cy="594360"/>
          </a:xfrm>
          <a:prstGeom prst="ellipse">
            <a:avLst/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14356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在清晨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7830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部分征兆只在清晨高湿时明显，白天巡棚容易错过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6F8F7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880360"/>
            <a:ext cx="594360" cy="594360"/>
          </a:xfrm>
          <a:prstGeom prst="ellipse">
            <a:avLst/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8072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靠翻叶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154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人工要逐株翻叶，做不到每天每株都看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6060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6F8F7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880360"/>
            <a:ext cx="594360" cy="594360"/>
          </a:xfrm>
          <a:prstGeom prst="ellipse">
            <a:avLst/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28072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不到株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3154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环境预警只能说「今天风险高」，定位不到具体植株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场景：日光温室、塑料大棚；适宜发病约 15–25℃、相对湿度 85% 以上，夜间结露加重病情。散户大棚多半没电没网、过道窄。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已有先例（决策 D16）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单项技术都有先例，我们的创新在于把它们闭环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2651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做了什么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对我们的含义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CN221048423U 温室黄瓜叶部病害巡检机器人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巡检机器人 + 识别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「小车 + 识别」不能当创新点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US11483471B2（Viewnetic）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补光仰拍叶背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「仰拍叶背」本身不能当创新点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Plant Science，2026（农大 / 北大）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环境引导的三阶段早期检测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引用其「健康 / 早期 / 明显」标注口径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8F2EC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3337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总创新：风险驱动的闭环主动采集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703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怎么拍、拍哪株、什么时候拍、推谁给人确认，由每株的风险和拍摄质量实时决定；早期确认是闭环的产出，不单列为创新点。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看不到 → 认不出 → 何时看、看哪里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三个创新点按依赖顺序递进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带质量反馈的叶背主动采集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停车后低位按预设仰角拍叶背并补光，逐张判断质量，不合格就补拍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50215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降低的成本：普通 RGB 相机 + 树莓派 + 云台，不用高光谱，不改造大棚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认不出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同株时序追踪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用编码器加吊线或立柱上的标签，把每天的图像对齐到同一株，给出每株状态和把握程度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347472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350215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降低的成本：不用轨道，不用 RTK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何时看、看哪里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环境风险驱动的采集与确认分配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根据温湿度、结露和每株状态，决定巡检时机、补拍哪些株、把哪些株推给人确认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47472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350215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降低的成本：人只需确认被推送的植株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闭环怎么转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每天一圈：计划、采集、归档、评估、确认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261872" cy="1097280"/>
          </a:xfrm>
          <a:prstGeom prst="roundRect">
            <a:avLst>
              <a:gd name="adj" fmla="val 6667"/>
            </a:avLst>
          </a:prstGeom>
          <a:solidFill>
            <a:srgbClr val="E8F2EC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647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每日巡检计划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756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planner-v0 给出四张名单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28216" y="1965960"/>
            <a:ext cx="113386" cy="0"/>
          </a:xfrm>
          <a:prstGeom prst="line">
            <a:avLst/>
          </a:prstGeom>
          <a:noFill/>
          <a:ln w="15875">
            <a:solidFill>
              <a:srgbClr val="6672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50746" y="1417320"/>
            <a:ext cx="1261872" cy="1097280"/>
          </a:xfrm>
          <a:prstGeom prst="roundRect">
            <a:avLst>
              <a:gd name="adj" fmla="val 6667"/>
            </a:avLst>
          </a:prstGeom>
          <a:solidFill>
            <a:srgbClr val="F6F8F7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60474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60474" y="17647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停车拍叶背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60474" y="20756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低位仰拍 + 补光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1762" y="1965960"/>
            <a:ext cx="113386" cy="0"/>
          </a:xfrm>
          <a:prstGeom prst="line">
            <a:avLst/>
          </a:prstGeom>
          <a:noFill/>
          <a:ln w="15875">
            <a:solidFill>
              <a:srgbClr val="6672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44291" y="1417320"/>
            <a:ext cx="1261872" cy="1097280"/>
          </a:xfrm>
          <a:prstGeom prst="roundRect">
            <a:avLst>
              <a:gd name="adj" fmla="val 6667"/>
            </a:avLst>
          </a:prstGeom>
          <a:solidFill>
            <a:srgbClr val="F6F8F7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54019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54019" y="17647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车上判断质量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54019" y="20756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iq-rule-v1，不合格补拍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15307" y="1965960"/>
            <a:ext cx="113386" cy="0"/>
          </a:xfrm>
          <a:prstGeom prst="line">
            <a:avLst/>
          </a:prstGeom>
          <a:noFill/>
          <a:ln w="15875">
            <a:solidFill>
              <a:srgbClr val="6672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37837" y="1417320"/>
            <a:ext cx="1261872" cy="1097280"/>
          </a:xfrm>
          <a:prstGeom prst="roundRect">
            <a:avLst>
              <a:gd name="adj" fmla="val 6667"/>
            </a:avLst>
          </a:prstGeom>
          <a:solidFill>
            <a:srgbClr val="F6F8F7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47565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47565" y="17647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按株号归档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47565" y="20756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分步上传，断网续传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08853" y="1965960"/>
            <a:ext cx="113386" cy="0"/>
          </a:xfrm>
          <a:prstGeom prst="line">
            <a:avLst/>
          </a:prstGeom>
          <a:noFill/>
          <a:ln w="15875">
            <a:solidFill>
              <a:srgbClr val="6672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31382" y="1417320"/>
            <a:ext cx="1261872" cy="1097280"/>
          </a:xfrm>
          <a:prstGeom prst="roundRect">
            <a:avLst>
              <a:gd name="adj" fmla="val 6667"/>
            </a:avLst>
          </a:prstGeom>
          <a:solidFill>
            <a:srgbClr val="F6F8F7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4111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41110" y="17647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评估每株状态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41110" y="20756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模型分 + dm-env-v0 环境指数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02398" y="1965960"/>
            <a:ext cx="113386" cy="0"/>
          </a:xfrm>
          <a:prstGeom prst="line">
            <a:avLst/>
          </a:prstGeom>
          <a:noFill/>
          <a:ln w="15875">
            <a:solidFill>
              <a:srgbClr val="6672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24928" y="1417320"/>
            <a:ext cx="1261872" cy="1097280"/>
          </a:xfrm>
          <a:prstGeom prst="roundRect">
            <a:avLst>
              <a:gd name="adj" fmla="val 6667"/>
            </a:avLst>
          </a:prstGeom>
          <a:solidFill>
            <a:srgbClr val="E8F2EC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34656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534656" y="17647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推给人确认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534656" y="20756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手机上看叶背选结论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55864" y="2514600"/>
            <a:ext cx="0" cy="27432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8136" y="2788920"/>
            <a:ext cx="6967728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1088136" y="2514600"/>
            <a:ext cx="0" cy="27432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274320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人工结论优先进入每株状态，决定次日计划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4290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EEE6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34290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风险不用来减少巡检：只用来分配补拍时间和人工确认时间；始终保留低频全覆盖和随机抽查，避免漏掉模型没注意到的新病灶。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带质量反馈的叶背主动采集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创新一：拍不清就当场补拍，每次尝试都留证据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停车后按视角序列拍：叶背低位仰拍并补光，正面另拍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车上逐张做图像质量判断 iq-rule-v1：清晰度、亮度、过曝 / 欠曝、逆光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不合格当场补拍；每次尝试都上传，记录第几次拍、是否合格、质量明细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散户大棚多半没网：判断在车上算，照片逐点落盘，断网续传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补拍记录也是将来训练「叶背是否露出」判别的数据</a:t>
            </a:r>
            <a:endParaRPr lang="en-US" sz="1300" dirty="0"/>
          </a:p>
        </p:txBody>
      </p:sp>
      <p:pic>
        <p:nvPicPr>
          <p:cNvPr id="5" name="Image 0" descr="repl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143000"/>
            <a:ext cx="4206240" cy="3092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480560" y="1143000"/>
            <a:ext cx="4206240" cy="3092824"/>
          </a:xfrm>
          <a:prstGeom prst="rect">
            <a:avLst/>
          </a:prstGeom>
          <a:ln w="9525">
            <a:solidFill>
              <a:srgbClr val="D2D9D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80560" y="4297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巡检回放：R02-P003 叶背第 1 次模糊不合格，第 2 次合格（模拟器合成叶片图）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同株时序追踪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创新二：每天的照片对齐到同一株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每株一个株号，如 R03-P017（第 3 垄第 17 株）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标签内容就是株号（默认二维码），配合编码器定位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上传时按株号自动关联；找不到就建档，待人核对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单株时间线：每天正面、叶背分栏，灰显不合格，标出补拍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每株状态：人工结论优先；只有模型分时仅作占位，不是诊断</a:t>
            </a:r>
            <a:endParaRPr lang="en-US" sz="1300" dirty="0"/>
          </a:p>
        </p:txBody>
      </p:sp>
      <p:pic>
        <p:nvPicPr>
          <p:cNvPr id="5" name="Image 0" descr="单株时间线：同一株按天排列，绿框是人工确认挂上的那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143000"/>
            <a:ext cx="4434840" cy="2804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1143000"/>
            <a:ext cx="4434840" cy="2804384"/>
          </a:xfrm>
          <a:prstGeom prst="rect">
            <a:avLst/>
          </a:prstGeom>
          <a:ln w="9525">
            <a:solidFill>
              <a:srgbClr val="D2D9D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251960" y="400224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单株时间线：同一株按天排列，绿框是人工确认挂上的那张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环境风险驱动的采集与确认分配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创新三：环境和每株状态决定补拍谁、推谁给人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棚内环境指数（dm-env-v0）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72 小时适宜、湿润小时数 → 指数 0–1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读数不足时为空，不当作低风险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前夜湿润 ≥4 小时，给出次日清晨叶背窗口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每天四张互斥名单（planner-v0）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852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推给人确认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852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受人工预算限制，默认每天 5 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1868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E8EFFD"/>
          </a:solidFill>
          <a:ln w="12700">
            <a:solidFill>
              <a:srgbClr val="E8EF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叶背补拍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218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预算随环境指数在 10%–25% 间变化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8444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E5F6FE"/>
          </a:solidFill>
          <a:ln w="12700">
            <a:solidFill>
              <a:srgbClr val="E5F6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低频全覆盖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584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天没看到的株，不限预算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50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随机抽查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950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每天固定种子抽 5%，至少 1 株</a:t>
            </a:r>
            <a:endParaRPr lang="en-US" sz="1100" dirty="0"/>
          </a:p>
        </p:txBody>
      </p:sp>
      <p:pic>
        <p:nvPicPr>
          <p:cNvPr id="19" name="Image 0" descr="巡检计划页：每条任务带打分分量，便于审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143000"/>
            <a:ext cx="4206240" cy="2522369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480560" y="1143000"/>
            <a:ext cx="4206240" cy="2522369"/>
          </a:xfrm>
          <a:prstGeom prst="rect">
            <a:avLst/>
          </a:prstGeom>
          <a:ln w="9525">
            <a:solidFill>
              <a:srgbClr val="D2D9D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80560" y="3720233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巡检计划页：每条任务带打分分量，便于审计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0" y="4023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公式与参数是启发式，不是训练出的模型；参数待试拍校准、阈值待农技复核。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人在棚里拿手机确认，结论直接关掉任务</a:t>
            </a:r>
            <a:endParaRPr lang="en-US" sz="2400" dirty="0"/>
          </a:p>
        </p:txBody>
      </p:sp>
      <p:pic>
        <p:nvPicPr>
          <p:cNvPr id="4" name="Image 0" descr="phone-confi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1583590" cy="342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097280"/>
            <a:ext cx="1583590" cy="3429000"/>
          </a:xfrm>
          <a:prstGeom prst="rect">
            <a:avLst/>
          </a:prstGeom>
          <a:ln w="9525">
            <a:solidFill>
              <a:srgbClr val="D2D9D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581144"/>
            <a:ext cx="194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手机宽度 375 px 可用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108960" y="1188720"/>
            <a:ext cx="457200" cy="457200"/>
          </a:xfrm>
          <a:prstGeom prst="ellipse">
            <a:avLst/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089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1170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待确认列表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1463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模型推给人的株按分数排序，按株合并任务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08960" y="1965960"/>
            <a:ext cx="457200" cy="457200"/>
          </a:xfrm>
          <a:prstGeom prst="ellipse">
            <a:avLst/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08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1947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看叶背大图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侧滑面板看要确认的叶背和近 30 天照片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108960" y="2743200"/>
            <a:ext cx="457200" cy="457200"/>
          </a:xfrm>
          <a:prstGeom prst="ellipse">
            <a:avLst/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089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749040" y="2724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选一个结论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74904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 / 早期 / 明显 / 其他，结论挂在最近一张合格叶背上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108960" y="3520440"/>
            <a:ext cx="457200" cy="457200"/>
          </a:xfrm>
          <a:prstGeom prst="ellipse">
            <a:avLst/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108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749040" y="3502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自动跳下一株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749040" y="3794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提交后关闭该株的确认任务；只读账号只能翻看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108960" y="4343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标注口径沿用「健康 / 早期 / 明显」三阶段（引用，不是创新点）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工作台与展示屏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平台：一屏看清每个大棚、每一株</a:t>
            </a:r>
            <a:endParaRPr lang="en-US" sz="2400" dirty="0"/>
          </a:p>
        </p:txBody>
      </p:sp>
      <p:pic>
        <p:nvPicPr>
          <p:cNvPr id="4" name="Image 0" descr="展示屏：「垄 × 株」状态网格、棚内温湿度、今日计划和等人确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8521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5852160" cy="3291840"/>
          </a:xfrm>
          <a:prstGeom prst="rect">
            <a:avLst/>
          </a:prstGeom>
          <a:ln w="9525">
            <a:solidFill>
              <a:srgbClr val="D2D9D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4439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展示屏：「垄 × 株」状态网格、棚内温湿度、今日计划和等人确认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 秒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 株状态网格首屏渲染（中位）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+ 4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株状态四色、任务类型四色，均另配形状或线型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/ 操作员 / 只读，全部接口需登录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大棚模拟 · 巡检策略离线比较（0017）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同样的照片和人工预算，风险驱动确认出更多病株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8EEE6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515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模拟结论只证明流程：病害规律与可见性参数是设计进模拟器的假设，下面的数字不能当作效果证据。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50292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76072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137 → 22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次/季 无效确认（确认为健康）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2400 → 1592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2770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张/季 照片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−0.25 天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提前量均值仍在 0 附近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3886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日光温室 120 株 · 30 天 · 20 个种子 · 每天照片 ≤80 张、人工 ≤5 株。差别多半来自「按模型分派人确认」；塑料大棚趋势相同。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小麦阶段的证据（D16 保留，不再扩展）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方法已在小麦数据上验证，作为可复用资产保留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0.82</a:t>
            </a:r>
            <a:pPr indent="0" marL="0">
              <a:buNone/>
            </a:pPr>
            <a:r>
              <a:rPr lang="en-US" sz="13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F1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条锈病图块分类 rust-cls-v1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NWRD 公开田间数据官方测试集；ROC-AUC 0.93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100–120</a:t>
            </a:r>
            <a:pPr indent="0" marL="0">
              <a:buNone/>
            </a:pPr>
            <a:r>
              <a:rPr lang="en-US" sz="13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标注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主动选样达到随机选样 200 个的效果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NWRD 真实图块，候选池阳性 ≤10% 时；原始比例下无差别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个特征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可训练风险模型 risk-lr-v1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本区域图像、历史、邻近区域；训练与线上共用同一特征实现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如实说明：抽稀阳性比例是看到原始结果后追加的对照，结论需在试验田数据上复验；risk-lr-v1 在小麦模拟季上训练，不用于大棚。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系统架构与工程纪律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端—边—云分工，平台业务不依赖数据从哪来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6F8F7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采集端 · 小车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树莓派 + USB 摄像头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云台、补光、编码器先有接口与假实现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质量判断与补拍在车上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逐点落盘、断网续传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71800" y="2171700"/>
            <a:ext cx="320040" cy="0"/>
          </a:xfrm>
          <a:prstGeom prst="line">
            <a:avLst/>
          </a:prstGeom>
          <a:noFill/>
          <a:ln w="15875">
            <a:solidFill>
              <a:srgbClr val="66726B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926080" y="18973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6F8F7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场边主机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Jetson TX2（选型待定）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011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推理服务 + 轻量平台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现场不依赖公网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手机、平板浏览器访问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0" y="2171700"/>
            <a:ext cx="320040" cy="0"/>
          </a:xfrm>
          <a:prstGeom prst="line">
            <a:avLst/>
          </a:prstGeom>
          <a:noFill/>
          <a:ln w="15875">
            <a:solidFill>
              <a:srgbClr val="66726B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806440" y="18973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E8F2EC"/>
          </a:solidFill>
          <a:ln w="9525">
            <a:solidFill>
              <a:srgbClr val="D2D9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Vue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011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上传快速返回，后台异步分析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规则建议冻结快照，可追溯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登录与三种角色权限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工程纪律（违反即返工）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1954530" cy="274320"/>
          </a:xfrm>
          <a:prstGeom prst="roundRect">
            <a:avLst>
              <a:gd name="adj" fmla="val 20000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703320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协议即合同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48890" y="3703320"/>
            <a:ext cx="1954530" cy="274320"/>
          </a:xfrm>
          <a:prstGeom prst="roundRect">
            <a:avLst>
              <a:gd name="adj" fmla="val 20000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48890" y="3703320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采集端只走 HTTP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40580" y="3703320"/>
            <a:ext cx="1954530" cy="274320"/>
          </a:xfrm>
          <a:prstGeom prst="roundRect">
            <a:avLst>
              <a:gd name="adj" fmla="val 20000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40580" y="3703320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照片内容寻址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32270" y="3703320"/>
            <a:ext cx="1954530" cy="274320"/>
          </a:xfrm>
          <a:prstGeom prst="roundRect">
            <a:avLst>
              <a:gd name="adj" fmla="val 20000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32270" y="3703320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规则单一事实源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087368"/>
            <a:ext cx="1954530" cy="274320"/>
          </a:xfrm>
          <a:prstGeom prst="roundRect">
            <a:avLst>
              <a:gd name="adj" fmla="val 20000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087368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只读 / 只起草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48890" y="4087368"/>
            <a:ext cx="1954530" cy="274320"/>
          </a:xfrm>
          <a:prstGeom prst="roundRect">
            <a:avLst>
              <a:gd name="adj" fmla="val 20000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548890" y="4087368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证据闸门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40580" y="4087368"/>
            <a:ext cx="1954530" cy="274320"/>
          </a:xfrm>
          <a:prstGeom prst="roundRect">
            <a:avLst>
              <a:gd name="adj" fmla="val 20000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40580" y="4087368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测试全绿才提交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进度与下一步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软件闭环已打通，下一步是进棚试拍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已完成（2026-10）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4813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按株建档、协议 v2、单株时间线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029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棚内环境、每株状态、巡检计划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0016-A/B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5786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车上质量判断补拍、分步上传、株号定位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31272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大棚模拟与巡检策略离线比较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0018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36758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前端按大棚工作流重做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5087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8EEE6"/>
          </a:solidFill>
          <a:ln w="12700">
            <a:solidFill>
              <a:srgbClr val="F8EE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0016-C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779008" y="14813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小车离线执行巡检计划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05740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8EEE6"/>
          </a:solidFill>
          <a:ln w="12700">
            <a:solidFill>
              <a:srgbClr val="F8EE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试拍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779008" y="2029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河南塑料大棚：仰拍能否看清叶背、清晨窗口、补拍耗时、过道宽度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60604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8EEE6"/>
          </a:solidFill>
          <a:ln w="12700">
            <a:solidFill>
              <a:srgbClr val="F8EE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779008" y="25786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霜霉病识别基线：公开数据先训「霜霉病 / 健康」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1546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8EEE6"/>
          </a:solidFill>
          <a:ln w="12700">
            <a:solidFill>
              <a:srgbClr val="F8EE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器件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779008" y="31272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云台、编码器、标签、冠层温湿度记录仪选型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70332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8EEE6"/>
          </a:solidFill>
          <a:ln w="12700">
            <a:solidFill>
              <a:srgbClr val="F8EE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5488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申报书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779008" y="36758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团队按新方向重写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时间约束：作品须在 2027-06-01 前完成；校赛约 2027 年 3 月；秋茬约 11 月结束，试拍窗口有限。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9602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2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把有限的巡检和人工，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花在最可能出问题的那几株上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C0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还需要田间回答的问题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低位仰拍加补光，能否稳定拍清黄瓜下部叶背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清晨高湿窗口是否真实存在、能否赶上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planner-v0 的参数和环境阈值，用实测数据校准后效果如何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与人工巡棚相比，同样人力能提前多少发现病株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C0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巡知 AgriScout · 谢谢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巡知 AgriScout 项目概览</dc:title>
  <dc:subject>PptxGenJS Presentation</dc:subject>
  <dc:creator>AgriScout 团队</dc:creator>
  <cp:lastModifiedBy>AgriScout 团队</cp:lastModifiedBy>
  <cp:revision>1</cp:revision>
  <dcterms:created xsi:type="dcterms:W3CDTF">2026-10-08T14:16:27Z</dcterms:created>
  <dcterms:modified xsi:type="dcterms:W3CDTF">2026-10-08T14:16:27Z</dcterms:modified>
</cp:coreProperties>
</file>