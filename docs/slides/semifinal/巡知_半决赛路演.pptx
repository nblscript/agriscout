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开场" id="{6ac65429-86cd-ea46-ec09-47b3561ddb8c}">
          <p14:sldIdLst>
            <p14:sldId id="256"/>
          </p14:sldIdLst>
        </p14:section>
        <p14:section name="问题" id="{3c3d217c-24bc-0190-1f48-dfd713d919d2}">
          <p14:sldIdLst>
            <p14:sldId id="257"/>
            <p14:sldId id="258"/>
          </p14:sldIdLst>
        </p14:section>
        <p14:section name="答案" id="{2d3bf3e8-d590-71f1-3ae0-93ef7c78fd33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证据" id="{bc773dff-7f1d-4ba0-cd42-2effbfa8b934}">
          <p14:sldIdLst>
            <p14:sldId id="265"/>
            <p14:sldId id="266"/>
            <p14:sldId id="267"/>
          </p14:sldIdLst>
        </p14:section>
        <p14:section name="落地" id="{fd4a2b4a-d677-c1ab-6bc6-a37c23409b5c}">
          <p14:sldIdLst>
            <p14:sldId id="268"/>
            <p14:sldId id="269"/>
            <p14:sldId id="270"/>
          </p14:sldIdLst>
        </p14:section>
        <p14:section name="结尾" id="{7d77eaa8-88f0-51ea-331e-9769b7e69b80}">
          <p14:sldIdLst>
            <p14:sldId id="271"/>
          </p14:sldIdLst>
        </p14:section>
        <p14:section name="备用" id="{9f2469eb-e5b3-aaf1-5a1d-4b613ba2e2ab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（约 15 秒）大家好，我们的项目叫巡知。一句话：在设施大棚里，让小车看得到叶背、认得出每一株，并且知道什么时候去看、先看哪几株。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（约 45 秒，开场从种植户的场景讲起）黄瓜霜霉病在大棚里很常见。种植户要一株株翻开叶子看，棚一大就看不过来；装了温湿度预警，也只知道今天风险高，不知道该先看哪几株。我们把它归成四个痛点：看不到、认不出、看不过来、定位不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（约 45 秒）为什么难：霜霉病的早期征兆集中在下部叶片的叶背，而且部分征兆只在清晨高湿时明显。所以问题落到一句话：不改造大棚、不用昂贵设备，在病刚出现时把该看的那几株的叶背拍清楚、认准是哪一株，再交给人确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（约 40 秒）我们的总创新叫风险驱动的闭环主动采集。三项创新不是三个并列功能，而是一个圈：先决定拍谁，再把叶背拍清楚，再对齐到同一株，人确认后的结论又决定第二天拍谁。要强调：风险只用来分配补拍和人工，不会因为风险低就少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（约 30 秒）四层：采集层是小车，负责把叶背拍好，对应创新一；数据层把每天的照片按株号归档，对应创新二；决策层根据环境和每株状态排出每天的名单，对应创新三；应用层把名单里的几株推到手机上给人确认。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（约 40 秒）创新一解决看不到。小车在株前停下，低位仰拍叶背并补光。每张照片在车上就判断清晰度、曝光和逆光，不合格就把仰角加 5 度重拍，最多 3 次。散户大棚多半没网，所以判断放在车上算。成本上只用普通 RGB 相机、树莓派和云台，不用高光谱，也不改造大棚。阈值是经验初值，等试拍校准。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（约 40 秒）创新二解决认不出。每株有株号，比如第 3 垄第 5 株就是 R03-P005；吊线或立柱上的二维码告诉小车这是哪一株，编码器量行内距离。这样每天的照片都挂到同一株下面，右边就是单株时间线。不用轨道、不用 RTK。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（约 45 秒）创新三解决何时看、看哪里。近 72 小时的适宜和湿润小时算出环境指数；前一夜湿润 4 小时以上，就安排第二天清晨去拍叶背。每天给出四张名单：推给人确认、叶背补拍、全覆盖和随机抽查。如实说明：这是启发式规则，不是训练出来的模型，参数等试拍校准。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（约 25 秒）评委一定会问和已有方案的区别。巡检识别机器人、补光仰拍叶背、环境引导的早期检测都有先例，单独哪一项都不能当创新点。我们的不同在于把它们按依赖接成闭环。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（约 30 秒）项目前期做的是小麦，那些成果在这里只证明方法我们做得出来，也做过客观评估：识别 F1 0.82；病株稀少时主动选样能省四到五成标注。下面这行限制条件要讲出来，评委会认可这种诚实。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（约 30 秒）软件主线已经跑通，main 分支 302 项后端测试全过。我们还做了大棚模拟，同样的照片和人工预算下，风险驱动比固定巡检确认出更多病株；但模拟里的病害规律是我们设计进去的，只能证明流程跑通。最大的短板是还没有真车和大棚实拍照片，这就是下一页的计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（约 30 秒）试拍窗口很紧：河南塑料大棚的秋茬大约 11 月结束，错过就要等春茬或在日光温室冬季继续。所以 10 月把软件准备好，11 月前试拍，冬季做识别基线，春茬整茬按株跟踪，和人工巡棚对比。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（约 40 秒）市场数字来自农业农村部网站和 FAO。我们先服务过道规整的大棚基地和合作社，再通过农技服务组织扩到更多棚，散户用轻便的手持或手推设备。定价和收费方式请团队补上。第二步的服务模式是推测，需要团队核实后再讲。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（约 25 秒）农业农村部的文章提到，设施封闭高湿环境病虫害高发、乱用药屡禁不止。巡知的价值是让病在叶背阶段就被看到，省掉逐株翻叶的人工，每个结论都可追溯，而且成本低。少用药的效果需要春茬田间验证后才能给数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（约 25 秒）团队按四个子系统分工，名字请团队补上。我们最需要的支持是大棚场地和农技专家，经费需求也请补上。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（约 10 秒）挑对时机，拍到叶背，认准每一株，只把值得看的推给人。谢谢各位评委。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答辩备用：被问到观察依据和先例时翻到这页。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答辩备用：被问到参数怎么定时翻到这页。所有参数都写在代码里并带出处注释，试拍后用实测替换。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答辩备用：被问到风险时翻到这页。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OVER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END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CONTENT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16368" y="25603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巡知 AgriScout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5089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5089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jp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85800"/>
            <a:ext cx="3017520" cy="310896"/>
          </a:xfrm>
          <a:prstGeom prst="roundRect">
            <a:avLst>
              <a:gd name="adj" fmla="val 50000"/>
            </a:avLst>
          </a:prstGeom>
          <a:solidFill>
            <a:srgbClr val="FBF3E0"/>
          </a:solidFill>
          <a:ln w="12700">
            <a:solidFill>
              <a:srgbClr val="FBF3E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68580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【待填：比赛名称】· 半决赛路演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3444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巡知 AgriScout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05740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F6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设施大棚黄瓜霜霉病的风险驱动闭环主动采集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02920" y="2743200"/>
            <a:ext cx="384048" cy="384048"/>
          </a:xfrm>
          <a:prstGeom prst="ellipse">
            <a:avLst/>
          </a:prstGeom>
          <a:solidFill>
            <a:srgbClr val="E3EEFA"/>
          </a:solidFill>
          <a:ln w="12700">
            <a:solidFill>
              <a:srgbClr val="E3EEF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092" y="2835372"/>
            <a:ext cx="199705" cy="19970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60120" y="27432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看得到叶背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286000" y="2743200"/>
            <a:ext cx="384048" cy="384048"/>
          </a:xfrm>
          <a:prstGeom prst="ellipse">
            <a:avLst/>
          </a:prstGeom>
          <a:solidFill>
            <a:srgbClr val="E3EEFA"/>
          </a:solidFill>
          <a:ln w="12700">
            <a:solidFill>
              <a:srgbClr val="E3EEF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8172" y="2835372"/>
            <a:ext cx="199705" cy="19970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743200" y="27432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认得出每株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069080" y="2743200"/>
            <a:ext cx="384048" cy="384048"/>
          </a:xfrm>
          <a:prstGeom prst="ellipse">
            <a:avLst/>
          </a:prstGeom>
          <a:solidFill>
            <a:srgbClr val="E3EEFA"/>
          </a:solidFill>
          <a:ln w="12700">
            <a:solidFill>
              <a:srgbClr val="E3EEFA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1252" y="2835372"/>
            <a:ext cx="199705" cy="19970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526280" y="27432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知道何时看哪里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502920" y="4160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团队：【待填】　指导教师：【待填】　学校：【待填】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37744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A5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960120" y="274320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2F6FB5"/>
          </a:solidFill>
          <a:ln w="12700">
            <a:solidFill>
              <a:srgbClr val="2F6FB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27432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2179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棚里有风险，可病在哪几株的叶背上？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4370832"/>
            <a:ext cx="768096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19050" dir="5400000">
              <a:srgbClr val="9FB4CC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30936" y="431596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D9A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4370832"/>
            <a:ext cx="7040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环境预警只能说「今天风险高」，说不出是哪几株。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3017520" cy="2926080"/>
          </a:xfrm>
          <a:prstGeom prst="roundRect">
            <a:avLst>
              <a:gd name="adj" fmla="val 3125"/>
            </a:avLst>
          </a:prstGeom>
          <a:solidFill>
            <a:srgbClr val="F3F8FD"/>
          </a:solidFill>
          <a:ln w="12700">
            <a:solidFill>
              <a:srgbClr val="B9D2EE"/>
            </a:solidFill>
            <a:prstDash val="dash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2103120"/>
            <a:ext cx="640080" cy="64008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685800" y="28803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【待填：大棚翻叶看病的现场照片】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794760" y="1280160"/>
            <a:ext cx="23317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19050" dir="5400000">
              <a:srgbClr val="9FB4CC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959352" y="1444752"/>
            <a:ext cx="457200" cy="457200"/>
          </a:xfrm>
          <a:prstGeom prst="ellipse">
            <a:avLst/>
          </a:prstGeom>
          <a:solidFill>
            <a:srgbClr val="E3EEFA"/>
          </a:solidFill>
          <a:ln w="12700">
            <a:solidFill>
              <a:srgbClr val="E3EEFA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80" y="1554480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507992" y="14630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看不到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3959352" y="199339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早期征兆在下部叶片的叶背，俯拍和固定摄像头拍不到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263640" y="1280160"/>
            <a:ext cx="23317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19050" dir="5400000">
              <a:srgbClr val="9FB4CC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428232" y="1444752"/>
            <a:ext cx="457200" cy="457200"/>
          </a:xfrm>
          <a:prstGeom prst="ellipse">
            <a:avLst/>
          </a:prstGeom>
          <a:solidFill>
            <a:srgbClr val="E3EEFA"/>
          </a:solidFill>
          <a:ln w="12700">
            <a:solidFill>
              <a:srgbClr val="E3EEFA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554480"/>
            <a:ext cx="237744" cy="23774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976872" y="14630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认不出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6428232" y="199339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每天的照片对不上同一株，看不出病斑在不在发展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3794760" y="2788920"/>
            <a:ext cx="23317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19050" dir="5400000">
              <a:srgbClr val="9FB4CC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3959352" y="2953512"/>
            <a:ext cx="457200" cy="457200"/>
          </a:xfrm>
          <a:prstGeom prst="ellipse">
            <a:avLst/>
          </a:prstGeom>
          <a:solidFill>
            <a:srgbClr val="E3EEFA"/>
          </a:solidFill>
          <a:ln w="12700">
            <a:solidFill>
              <a:srgbClr val="E3EEFA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9080" y="3063240"/>
            <a:ext cx="237744" cy="23774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4507992" y="29718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看不过来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3959352" y="350215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人工要逐株翻叶，做不到每天每株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6263640" y="2788920"/>
            <a:ext cx="23317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19050" dir="5400000">
              <a:srgbClr val="9FB4CC">
                <a:alpha val="18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28232" y="2953512"/>
            <a:ext cx="457200" cy="457200"/>
          </a:xfrm>
          <a:prstGeom prst="ellipse">
            <a:avLst/>
          </a:prstGeom>
          <a:solidFill>
            <a:srgbClr val="E3EEFA"/>
          </a:solidFill>
          <a:ln w="12700">
            <a:solidFill>
              <a:srgbClr val="E3EEFA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3063240"/>
            <a:ext cx="237744" cy="237744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6976872" y="29718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定位不到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6428232" y="350215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环境预警只知道棚里风险高，不知道是哪几株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5089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37744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A5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960120" y="274320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2F6FB5"/>
          </a:solidFill>
          <a:ln w="12700">
            <a:solidFill>
              <a:srgbClr val="2F6FB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27432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2179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核心问题：在病刚出现时，拍清那几株的叶背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4370832"/>
            <a:ext cx="768096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19050" dir="5400000">
              <a:srgbClr val="9FB4CC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30936" y="431596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D9A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4370832"/>
            <a:ext cx="7040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不改造大棚、不用高光谱，用普通相机把叶背拍清楚。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1280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俯拍：只看到正面</a:t>
            </a:r>
            <a:endParaRPr lang="en-US" sz="11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572768"/>
            <a:ext cx="384048" cy="38404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1517904" y="1984248"/>
            <a:ext cx="0" cy="256032"/>
          </a:xfrm>
          <a:prstGeom prst="line">
            <a:avLst/>
          </a:prstGeom>
          <a:noFill/>
          <a:ln w="15875">
            <a:solidFill>
              <a:srgbClr val="6B7280"/>
            </a:solidFill>
            <a:prstDash val="dash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777240" y="2286000"/>
            <a:ext cx="3840480" cy="256032"/>
          </a:xfrm>
          <a:prstGeom prst="roundRect">
            <a:avLst>
              <a:gd name="adj" fmla="val 50000"/>
            </a:avLst>
          </a:prstGeom>
          <a:solidFill>
            <a:srgbClr val="4E9F5E"/>
          </a:solidFill>
          <a:ln w="12700">
            <a:solidFill>
              <a:srgbClr val="3D8A4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600200" y="2286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叶片正面：早期几乎看不出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77240" y="2542032"/>
            <a:ext cx="3840480" cy="182880"/>
          </a:xfrm>
          <a:prstGeom prst="roundRect">
            <a:avLst>
              <a:gd name="adj" fmla="val 50000"/>
            </a:avLst>
          </a:prstGeom>
          <a:solidFill>
            <a:srgbClr val="B7D8B5"/>
          </a:solidFill>
          <a:ln w="12700">
            <a:solidFill>
              <a:srgbClr val="9CC79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325880" y="2697480"/>
            <a:ext cx="201168" cy="109728"/>
          </a:xfrm>
          <a:prstGeom prst="ellipse">
            <a:avLst/>
          </a:prstGeom>
          <a:solidFill>
            <a:srgbClr val="8E7FA6"/>
          </a:solidFill>
          <a:ln w="12700">
            <a:solidFill>
              <a:srgbClr val="8E7FA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965960" y="2697480"/>
            <a:ext cx="201168" cy="109728"/>
          </a:xfrm>
          <a:prstGeom prst="ellipse">
            <a:avLst/>
          </a:prstGeom>
          <a:solidFill>
            <a:srgbClr val="8E7FA6"/>
          </a:solidFill>
          <a:ln w="12700">
            <a:solidFill>
              <a:srgbClr val="8E7FA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148840" y="2697480"/>
            <a:ext cx="201168" cy="109728"/>
          </a:xfrm>
          <a:prstGeom prst="ellipse">
            <a:avLst/>
          </a:prstGeom>
          <a:solidFill>
            <a:srgbClr val="8E7FA6"/>
          </a:solidFill>
          <a:ln w="12700">
            <a:solidFill>
              <a:srgbClr val="8E7FA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971800" y="2697480"/>
            <a:ext cx="201168" cy="109728"/>
          </a:xfrm>
          <a:prstGeom prst="ellipse">
            <a:avLst/>
          </a:prstGeom>
          <a:solidFill>
            <a:srgbClr val="8E7FA6"/>
          </a:solidFill>
          <a:ln w="12700">
            <a:solidFill>
              <a:srgbClr val="8E7FA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611880" y="2697480"/>
            <a:ext cx="201168" cy="109728"/>
          </a:xfrm>
          <a:prstGeom prst="ellipse">
            <a:avLst/>
          </a:prstGeom>
          <a:solidFill>
            <a:srgbClr val="8E7FA6"/>
          </a:solidFill>
          <a:ln w="12700">
            <a:solidFill>
              <a:srgbClr val="8E7FA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794760" y="2697480"/>
            <a:ext cx="201168" cy="109728"/>
          </a:xfrm>
          <a:prstGeom prst="ellipse">
            <a:avLst/>
          </a:prstGeom>
          <a:solidFill>
            <a:srgbClr val="8E7FA6"/>
          </a:solidFill>
          <a:ln w="12700">
            <a:solidFill>
              <a:srgbClr val="8E7FA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60120" y="28986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叶背：早期征兆和确诊特征集中在这里</a:t>
            </a:r>
            <a:endParaRPr lang="en-US" sz="110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3566160"/>
            <a:ext cx="384048" cy="384048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 flipV="1">
            <a:off x="3474720" y="2880360"/>
            <a:ext cx="365760" cy="685800"/>
          </a:xfrm>
          <a:prstGeom prst="line">
            <a:avLst/>
          </a:prstGeom>
          <a:noFill/>
          <a:ln w="19050">
            <a:solidFill>
              <a:srgbClr val="2F6FB5"/>
            </a:solidFill>
            <a:prstDash val="solid"/>
            <a:tailEnd type="triangle"/>
          </a:ln>
        </p:spPr>
      </p:sp>
      <p:sp>
        <p:nvSpPr>
          <p:cNvPr id="24" name="Text 20"/>
          <p:cNvSpPr txBox="1"/>
          <p:nvPr/>
        </p:nvSpPr>
        <p:spPr>
          <a:xfrm>
            <a:off x="2240280" y="36576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6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低位仰拍 + 补光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4892040" y="1280160"/>
            <a:ext cx="374904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19050" dir="5400000">
              <a:srgbClr val="9FB4CC">
                <a:alpha val="18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5029200" y="1463040"/>
            <a:ext cx="457200" cy="457200"/>
          </a:xfrm>
          <a:prstGeom prst="ellipse">
            <a:avLst/>
          </a:prstGeom>
          <a:solidFill>
            <a:srgbClr val="E3EEFA"/>
          </a:solidFill>
          <a:ln w="12700">
            <a:solidFill>
              <a:srgbClr val="E3EEFA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928" y="1572768"/>
            <a:ext cx="237744" cy="237744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5623560" y="13716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在下部叶背</a:t>
            </a:r>
            <a:endParaRPr lang="en-US" sz="1350" dirty="0"/>
          </a:p>
        </p:txBody>
      </p:sp>
      <p:sp>
        <p:nvSpPr>
          <p:cNvPr id="29" name="Text 24"/>
          <p:cNvSpPr txBox="1"/>
          <p:nvPr/>
        </p:nvSpPr>
        <p:spPr>
          <a:xfrm>
            <a:off x="5623560" y="1691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早期征兆和确诊特征集中在下部叶片的叶背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4892040" y="2240280"/>
            <a:ext cx="374904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19050" dir="5400000">
              <a:srgbClr val="9FB4CC">
                <a:alpha val="18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5029200" y="2423160"/>
            <a:ext cx="457200" cy="457200"/>
          </a:xfrm>
          <a:prstGeom prst="ellipse">
            <a:avLst/>
          </a:prstGeom>
          <a:solidFill>
            <a:srgbClr val="E3EEFA"/>
          </a:solidFill>
          <a:ln w="12700">
            <a:solidFill>
              <a:srgbClr val="E3EEFA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8928" y="2532888"/>
            <a:ext cx="237744" cy="237744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5623560" y="23317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在清晨高湿时</a:t>
            </a:r>
            <a:endParaRPr lang="en-US" sz="1350" dirty="0"/>
          </a:p>
        </p:txBody>
      </p:sp>
      <p:sp>
        <p:nvSpPr>
          <p:cNvPr id="34" name="Text 28"/>
          <p:cNvSpPr txBox="1"/>
          <p:nvPr/>
        </p:nvSpPr>
        <p:spPr>
          <a:xfrm>
            <a:off x="5623560" y="2651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部分征兆只在清晨高湿时明显；夜间结露加重病情</a:t>
            </a:r>
            <a:endParaRPr lang="en-US" sz="1050" dirty="0"/>
          </a:p>
        </p:txBody>
      </p:sp>
      <p:sp>
        <p:nvSpPr>
          <p:cNvPr id="35" name="Text 29"/>
          <p:cNvSpPr txBox="1"/>
          <p:nvPr/>
        </p:nvSpPr>
        <p:spPr>
          <a:xfrm>
            <a:off x="4892040" y="33101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08A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</a:t>
            </a:r>
            <a:endParaRPr lang="en-US" sz="1100" dirty="0"/>
          </a:p>
        </p:txBody>
      </p:sp>
      <p:sp>
        <p:nvSpPr>
          <p:cNvPr id="36" name="Shape 30"/>
          <p:cNvSpPr/>
          <p:nvPr/>
        </p:nvSpPr>
        <p:spPr>
          <a:xfrm>
            <a:off x="4892040" y="3611880"/>
            <a:ext cx="1170432" cy="274320"/>
          </a:xfrm>
          <a:prstGeom prst="roundRect">
            <a:avLst>
              <a:gd name="adj" fmla="val 50000"/>
            </a:avLst>
          </a:prstGeom>
          <a:solidFill>
            <a:srgbClr val="FBF3E0"/>
          </a:solidFill>
          <a:ln w="12700">
            <a:solidFill>
              <a:srgbClr val="FBF3E0"/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4892040" y="36118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不改造大棚</a:t>
            </a:r>
            <a:endParaRPr lang="en-US" sz="1050" dirty="0"/>
          </a:p>
        </p:txBody>
      </p:sp>
      <p:sp>
        <p:nvSpPr>
          <p:cNvPr id="38" name="Shape 32"/>
          <p:cNvSpPr/>
          <p:nvPr/>
        </p:nvSpPr>
        <p:spPr>
          <a:xfrm>
            <a:off x="6153912" y="3611880"/>
            <a:ext cx="1170432" cy="274320"/>
          </a:xfrm>
          <a:prstGeom prst="roundRect">
            <a:avLst>
              <a:gd name="adj" fmla="val 50000"/>
            </a:avLst>
          </a:prstGeom>
          <a:solidFill>
            <a:srgbClr val="FBF3E0"/>
          </a:solidFill>
          <a:ln w="12700">
            <a:solidFill>
              <a:srgbClr val="FBF3E0"/>
            </a:solidFill>
            <a:prstDash val="solid"/>
          </a:ln>
        </p:spPr>
      </p:sp>
      <p:sp>
        <p:nvSpPr>
          <p:cNvPr id="39" name="Text 33"/>
          <p:cNvSpPr txBox="1"/>
          <p:nvPr/>
        </p:nvSpPr>
        <p:spPr>
          <a:xfrm>
            <a:off x="6153912" y="36118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不用高光谱</a:t>
            </a:r>
            <a:endParaRPr lang="en-US" sz="1050" dirty="0"/>
          </a:p>
        </p:txBody>
      </p:sp>
      <p:sp>
        <p:nvSpPr>
          <p:cNvPr id="40" name="Shape 34"/>
          <p:cNvSpPr/>
          <p:nvPr/>
        </p:nvSpPr>
        <p:spPr>
          <a:xfrm>
            <a:off x="7415784" y="3611880"/>
            <a:ext cx="1170432" cy="274320"/>
          </a:xfrm>
          <a:prstGeom prst="roundRect">
            <a:avLst>
              <a:gd name="adj" fmla="val 50000"/>
            </a:avLst>
          </a:prstGeom>
          <a:solidFill>
            <a:srgbClr val="FBF3E0"/>
          </a:solidFill>
          <a:ln w="12700">
            <a:solidFill>
              <a:srgbClr val="FBF3E0"/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7415784" y="36118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 RGB 相机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5089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37744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A5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960120" y="274320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2F6FB5"/>
          </a:solidFill>
          <a:ln w="12700">
            <a:solidFill>
              <a:srgbClr val="2F6FB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27432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2179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总创新：风险驱动的闭环主动采集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4370832"/>
            <a:ext cx="768096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19050" dir="5400000">
              <a:srgbClr val="9FB4CC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30936" y="431596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D9A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4370832"/>
            <a:ext cx="7040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怎么拍，由风险和拍摄质量实时决定。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286000" y="2130552"/>
            <a:ext cx="1737360" cy="1133856"/>
          </a:xfrm>
          <a:prstGeom prst="ellipse">
            <a:avLst/>
          </a:prstGeom>
          <a:solidFill>
            <a:srgbClr val="1B2F5B"/>
          </a:solidFill>
          <a:ln w="12700">
            <a:solidFill>
              <a:srgbClr val="1B2F5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286000" y="2130552"/>
            <a:ext cx="173736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风险驱动的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闭环主动采集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331720" y="1188720"/>
            <a:ext cx="164592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B9D2EE"/>
            </a:solidFill>
            <a:prstDash val="solid"/>
          </a:ln>
          <a:effectLst>
            <a:outerShdw sx="100000" sy="100000" kx="0" ky="0" algn="bl" rotWithShape="0" blurRad="76200" dist="19050" dir="5400000">
              <a:srgbClr val="9FB4CC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41448" y="1344168"/>
            <a:ext cx="420624" cy="420624"/>
          </a:xfrm>
          <a:prstGeom prst="ellipse">
            <a:avLst/>
          </a:prstGeom>
          <a:solidFill>
            <a:srgbClr val="2F6FB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441448" y="1344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935224" y="1280160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何时看哪里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935224" y="1581912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按风险排名单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06240" y="2331720"/>
            <a:ext cx="164592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B9D2EE"/>
            </a:solidFill>
            <a:prstDash val="solid"/>
          </a:ln>
          <a:effectLst>
            <a:outerShdw sx="100000" sy="100000" kx="0" ky="0" algn="bl" rotWithShape="0" blurRad="76200" dist="19050" dir="5400000">
              <a:srgbClr val="9FB4CC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15968" y="2487168"/>
            <a:ext cx="420624" cy="420624"/>
          </a:xfrm>
          <a:prstGeom prst="ellipse">
            <a:avLst/>
          </a:prstGeom>
          <a:solidFill>
            <a:srgbClr val="2F6FB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315968" y="2487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809744" y="2423160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拍清叶背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809744" y="2724912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不合格当场补拍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331720" y="3520440"/>
            <a:ext cx="164592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B9D2EE"/>
            </a:solidFill>
            <a:prstDash val="solid"/>
          </a:ln>
          <a:effectLst>
            <a:outerShdw sx="100000" sy="100000" kx="0" ky="0" algn="bl" rotWithShape="0" blurRad="76200" dist="19050" dir="5400000">
              <a:srgbClr val="9FB4CC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441448" y="3675888"/>
            <a:ext cx="420624" cy="420624"/>
          </a:xfrm>
          <a:prstGeom prst="ellipse">
            <a:avLst/>
          </a:prstGeom>
          <a:solidFill>
            <a:srgbClr val="2F6FB5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2441448" y="3675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2935224" y="3611880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对齐同一株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2935224" y="3913632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株号 + 编码器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2331720"/>
            <a:ext cx="1645920" cy="731520"/>
          </a:xfrm>
          <a:prstGeom prst="roundRect">
            <a:avLst>
              <a:gd name="adj" fmla="val 12500"/>
            </a:avLst>
          </a:prstGeom>
          <a:solidFill>
            <a:srgbClr val="FBF3E0"/>
          </a:solidFill>
          <a:ln w="9525">
            <a:solidFill>
              <a:srgbClr val="E8D2A0"/>
            </a:solidFill>
            <a:prstDash val="solid"/>
          </a:ln>
          <a:effectLst>
            <a:outerShdw sx="100000" sy="100000" kx="0" ky="0" algn="bl" rotWithShape="0" blurRad="76200" dist="19050" dir="5400000">
              <a:srgbClr val="9FB4CC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66928" y="2487168"/>
            <a:ext cx="420624" cy="420624"/>
          </a:xfrm>
          <a:prstGeom prst="ellipse">
            <a:avLst/>
          </a:prstGeom>
          <a:solidFill>
            <a:srgbClr val="D9A52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66928" y="2487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060704" y="2423160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人工确认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060704" y="2724912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只看被推送的株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977640" y="1600200"/>
            <a:ext cx="868680" cy="713232"/>
          </a:xfrm>
          <a:prstGeom prst="line">
            <a:avLst/>
          </a:prstGeom>
          <a:noFill/>
          <a:ln w="19050">
            <a:solidFill>
              <a:srgbClr val="2F6FB5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029200" y="3081528"/>
            <a:ext cx="-1051560" cy="758952"/>
          </a:xfrm>
          <a:prstGeom prst="line">
            <a:avLst/>
          </a:prstGeom>
          <a:noFill/>
          <a:ln w="19050">
            <a:solidFill>
              <a:srgbClr val="2F6FB5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2331720" y="3886200"/>
            <a:ext cx="-1051560" cy="-804672"/>
          </a:xfrm>
          <a:prstGeom prst="line">
            <a:avLst/>
          </a:prstGeom>
          <a:noFill/>
          <a:ln w="19050">
            <a:solidFill>
              <a:srgbClr val="2F6FB5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1280160" y="2313432"/>
            <a:ext cx="1051560" cy="-713232"/>
          </a:xfrm>
          <a:prstGeom prst="line">
            <a:avLst/>
          </a:prstGeom>
          <a:noFill/>
          <a:ln w="19050">
            <a:solidFill>
              <a:srgbClr val="2F6FB5"/>
            </a:solidFill>
            <a:prstDash val="solid"/>
            <a:tailEnd type="triangle"/>
          </a:ln>
        </p:spPr>
      </p:sp>
      <p:sp>
        <p:nvSpPr>
          <p:cNvPr id="35" name="Text 33"/>
          <p:cNvSpPr txBox="1"/>
          <p:nvPr/>
        </p:nvSpPr>
        <p:spPr>
          <a:xfrm>
            <a:off x="5989320" y="1234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三点按依赖递进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5989320" y="164592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拍不清叶背，就没有可对齐的图</a:t>
            </a:r>
            <a:endParaRPr lang="en-US" sz="115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对不上同一株，就没有每株状态</a:t>
            </a:r>
            <a:endParaRPr lang="en-US" sz="115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没有每株状态，风险就分配不到具体植株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989320" y="3063240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F3F8FD"/>
          </a:solidFill>
          <a:ln w="9525">
            <a:solidFill>
              <a:srgbClr val="B9D2EE"/>
            </a:solidFill>
            <a:prstDash val="solid"/>
          </a:ln>
          <a:effectLst>
            <a:outerShdw sx="100000" sy="100000" kx="0" ky="0" algn="bl" rotWithShape="0" blurRad="76200" dist="19050" dir="5400000">
              <a:srgbClr val="9FB4CC">
                <a:alpha val="18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6126480" y="312724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风险不减少巡检：只用来分配补拍和人工确认，低频全覆盖和随机抽查一直保留。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5089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37744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A5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960120" y="274320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2F6FB5"/>
          </a:solidFill>
          <a:ln w="12700">
            <a:solidFill>
              <a:srgbClr val="2F6FB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27432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2179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系统架构：车上管拍好，平台管拍谁，人只管确认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4370832"/>
            <a:ext cx="768096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19050" dir="5400000">
              <a:srgbClr val="9FB4CC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30936" y="431596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D9A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4370832"/>
            <a:ext cx="7040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车上判断拍得好不好，平台决定明天看哪株，人只确认被推送的株。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6766560" cy="640080"/>
          </a:xfrm>
          <a:prstGeom prst="roundRect">
            <a:avLst>
              <a:gd name="adj" fmla="val 14286"/>
            </a:avLst>
          </a:prstGeom>
          <a:solidFill>
            <a:srgbClr val="F3F8FD"/>
          </a:solidFill>
          <a:ln w="9525">
            <a:solidFill>
              <a:srgbClr val="B9D2EE"/>
            </a:solidFill>
            <a:prstDash val="solid"/>
          </a:ln>
          <a:effectLst>
            <a:outerShdw sx="100000" sy="100000" kx="0" ky="0" algn="bl" rotWithShape="0" blurRad="76200" dist="19050" dir="5400000">
              <a:srgbClr val="9FB4CC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463040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1B2F5B"/>
          </a:solidFill>
          <a:ln w="12700">
            <a:solidFill>
              <a:srgbClr val="1B2F5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1463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554480" y="1399032"/>
            <a:ext cx="402336" cy="402336"/>
          </a:xfrm>
          <a:prstGeom prst="ellipse">
            <a:avLst/>
          </a:prstGeom>
          <a:solidFill>
            <a:srgbClr val="E3EEFA"/>
          </a:solidFill>
          <a:ln w="12700">
            <a:solidFill>
              <a:srgbClr val="E3EEFA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1041" y="1495593"/>
            <a:ext cx="209215" cy="209215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2057400" y="13258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工作台 · 手机待确认 · 展示屏 · 单株时间线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452360" y="146304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FBF3E0"/>
          </a:solidFill>
          <a:ln w="12700">
            <a:solidFill>
              <a:srgbClr val="FBF3E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452360" y="146304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人工确认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973568" y="1737360"/>
            <a:ext cx="0" cy="301752"/>
          </a:xfrm>
          <a:prstGeom prst="line">
            <a:avLst/>
          </a:prstGeom>
          <a:noFill/>
          <a:ln w="12700">
            <a:solidFill>
              <a:srgbClr val="C08A1E"/>
            </a:solidFill>
            <a:prstDash val="dash"/>
          </a:ln>
        </p:spPr>
      </p:sp>
      <p:sp>
        <p:nvSpPr>
          <p:cNvPr id="18" name="Shape 15"/>
          <p:cNvSpPr/>
          <p:nvPr/>
        </p:nvSpPr>
        <p:spPr>
          <a:xfrm>
            <a:off x="502920" y="2039112"/>
            <a:ext cx="676656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B9D2EE"/>
            </a:solidFill>
            <a:prstDash val="solid"/>
          </a:ln>
          <a:effectLst>
            <a:outerShdw sx="100000" sy="100000" kx="0" ky="0" algn="bl" rotWithShape="0" blurRad="76200" dist="19050" dir="5400000">
              <a:srgbClr val="9FB4CC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40080" y="2221992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1B2F5B"/>
          </a:solidFill>
          <a:ln w="12700">
            <a:solidFill>
              <a:srgbClr val="1B2F5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40080" y="22219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决策层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554480" y="2157984"/>
            <a:ext cx="402336" cy="402336"/>
          </a:xfrm>
          <a:prstGeom prst="ellipse">
            <a:avLst/>
          </a:prstGeom>
          <a:solidFill>
            <a:srgbClr val="E3EEFA"/>
          </a:solidFill>
          <a:ln w="12700">
            <a:solidFill>
              <a:srgbClr val="E3EEFA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041" y="2254545"/>
            <a:ext cx="209215" cy="209215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2057400" y="208483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棚内环境指数 + 每株状态 → 每天四张巡检名单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7452360" y="2221992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FBF3E0"/>
          </a:solidFill>
          <a:ln w="12700">
            <a:solidFill>
              <a:srgbClr val="FBF3E0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452360" y="222199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创新三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7973568" y="2496312"/>
            <a:ext cx="0" cy="301752"/>
          </a:xfrm>
          <a:prstGeom prst="line">
            <a:avLst/>
          </a:prstGeom>
          <a:noFill/>
          <a:ln w="12700">
            <a:solidFill>
              <a:srgbClr val="C08A1E"/>
            </a:solidFill>
            <a:prstDash val="dash"/>
          </a:ln>
        </p:spPr>
      </p:sp>
      <p:sp>
        <p:nvSpPr>
          <p:cNvPr id="27" name="Shape 23"/>
          <p:cNvSpPr/>
          <p:nvPr/>
        </p:nvSpPr>
        <p:spPr>
          <a:xfrm>
            <a:off x="502920" y="2798064"/>
            <a:ext cx="676656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B9D2EE"/>
            </a:solidFill>
            <a:prstDash val="solid"/>
          </a:ln>
          <a:effectLst>
            <a:outerShdw sx="100000" sy="100000" kx="0" ky="0" algn="bl" rotWithShape="0" blurRad="76200" dist="19050" dir="5400000">
              <a:srgbClr val="9FB4CC">
                <a:alpha val="18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640080" y="2980944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1B2F5B"/>
          </a:solidFill>
          <a:ln w="12700">
            <a:solidFill>
              <a:srgbClr val="1B2F5B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640080" y="298094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1554480" y="2916936"/>
            <a:ext cx="402336" cy="402336"/>
          </a:xfrm>
          <a:prstGeom prst="ellipse">
            <a:avLst/>
          </a:prstGeom>
          <a:solidFill>
            <a:srgbClr val="E3EEFA"/>
          </a:solidFill>
          <a:ln w="12700">
            <a:solidFill>
              <a:srgbClr val="E3EEFA"/>
            </a:solidFill>
            <a:prstDash val="solid"/>
          </a:ln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1041" y="3013497"/>
            <a:ext cx="209215" cy="209215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2057400" y="284378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照片按株号归档 · 株档案 · 每天观测挂到同一株</a:t>
            </a:r>
            <a:endParaRPr lang="en-US" sz="1150" dirty="0"/>
          </a:p>
        </p:txBody>
      </p:sp>
      <p:sp>
        <p:nvSpPr>
          <p:cNvPr id="33" name="Shape 28"/>
          <p:cNvSpPr/>
          <p:nvPr/>
        </p:nvSpPr>
        <p:spPr>
          <a:xfrm>
            <a:off x="7452360" y="2980944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FBF3E0"/>
          </a:solidFill>
          <a:ln w="12700">
            <a:solidFill>
              <a:srgbClr val="FBF3E0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7452360" y="298094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创新二</a:t>
            </a:r>
            <a:endParaRPr lang="en-US" sz="1050" dirty="0"/>
          </a:p>
        </p:txBody>
      </p:sp>
      <p:sp>
        <p:nvSpPr>
          <p:cNvPr id="35" name="Shape 30"/>
          <p:cNvSpPr/>
          <p:nvPr/>
        </p:nvSpPr>
        <p:spPr>
          <a:xfrm>
            <a:off x="7973568" y="3255264"/>
            <a:ext cx="0" cy="301752"/>
          </a:xfrm>
          <a:prstGeom prst="line">
            <a:avLst/>
          </a:prstGeom>
          <a:noFill/>
          <a:ln w="12700">
            <a:solidFill>
              <a:srgbClr val="C08A1E"/>
            </a:solidFill>
            <a:prstDash val="dash"/>
          </a:ln>
        </p:spPr>
      </p:sp>
      <p:sp>
        <p:nvSpPr>
          <p:cNvPr id="36" name="Shape 31"/>
          <p:cNvSpPr/>
          <p:nvPr/>
        </p:nvSpPr>
        <p:spPr>
          <a:xfrm>
            <a:off x="502920" y="3557016"/>
            <a:ext cx="676656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B9D2EE"/>
            </a:solidFill>
            <a:prstDash val="solid"/>
          </a:ln>
          <a:effectLst>
            <a:outerShdw sx="100000" sy="100000" kx="0" ky="0" algn="bl" rotWithShape="0" blurRad="76200" dist="19050" dir="5400000">
              <a:srgbClr val="9FB4CC">
                <a:alpha val="18000"/>
              </a:srgbClr>
            </a:outerShdw>
          </a:effectLst>
        </p:spPr>
      </p:sp>
      <p:sp>
        <p:nvSpPr>
          <p:cNvPr id="37" name="Shape 32"/>
          <p:cNvSpPr/>
          <p:nvPr/>
        </p:nvSpPr>
        <p:spPr>
          <a:xfrm>
            <a:off x="640080" y="3739896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1B2F5B"/>
          </a:solidFill>
          <a:ln w="12700">
            <a:solidFill>
              <a:srgbClr val="1B2F5B"/>
            </a:solidFill>
            <a:prstDash val="solid"/>
          </a:ln>
        </p:spPr>
      </p:sp>
      <p:sp>
        <p:nvSpPr>
          <p:cNvPr id="38" name="Text 33"/>
          <p:cNvSpPr txBox="1"/>
          <p:nvPr/>
        </p:nvSpPr>
        <p:spPr>
          <a:xfrm>
            <a:off x="640080" y="373989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采集层</a:t>
            </a:r>
            <a:endParaRPr lang="en-US" sz="1050" dirty="0"/>
          </a:p>
        </p:txBody>
      </p:sp>
      <p:sp>
        <p:nvSpPr>
          <p:cNvPr id="39" name="Shape 34"/>
          <p:cNvSpPr/>
          <p:nvPr/>
        </p:nvSpPr>
        <p:spPr>
          <a:xfrm>
            <a:off x="1554480" y="3675888"/>
            <a:ext cx="402336" cy="402336"/>
          </a:xfrm>
          <a:prstGeom prst="ellipse">
            <a:avLst/>
          </a:prstGeom>
          <a:solidFill>
            <a:srgbClr val="E3EEFA"/>
          </a:solidFill>
          <a:ln w="12700">
            <a:solidFill>
              <a:srgbClr val="E3EEFA"/>
            </a:solidFill>
            <a:prstDash val="solid"/>
          </a:ln>
        </p:spPr>
      </p:sp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41" y="3772449"/>
            <a:ext cx="209215" cy="209215"/>
          </a:xfrm>
          <a:prstGeom prst="rect">
            <a:avLst/>
          </a:prstGeom>
        </p:spPr>
      </p:pic>
      <p:sp>
        <p:nvSpPr>
          <p:cNvPr id="41" name="Text 35"/>
          <p:cNvSpPr txBox="1"/>
          <p:nvPr/>
        </p:nvSpPr>
        <p:spPr>
          <a:xfrm>
            <a:off x="2057400" y="360273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小车：云台 + 补光 + 编码器 + 二维码 · 车上质量判断与补拍 · 断网续传</a:t>
            </a:r>
            <a:endParaRPr lang="en-US" sz="1150" dirty="0"/>
          </a:p>
        </p:txBody>
      </p:sp>
      <p:sp>
        <p:nvSpPr>
          <p:cNvPr id="42" name="Shape 36"/>
          <p:cNvSpPr/>
          <p:nvPr/>
        </p:nvSpPr>
        <p:spPr>
          <a:xfrm>
            <a:off x="7452360" y="3739896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FBF3E0"/>
          </a:solidFill>
          <a:ln w="12700">
            <a:solidFill>
              <a:srgbClr val="FBF3E0"/>
            </a:solidFill>
            <a:prstDash val="solid"/>
          </a:ln>
        </p:spPr>
      </p:sp>
      <p:sp>
        <p:nvSpPr>
          <p:cNvPr id="43" name="Text 37"/>
          <p:cNvSpPr txBox="1"/>
          <p:nvPr/>
        </p:nvSpPr>
        <p:spPr>
          <a:xfrm>
            <a:off x="7452360" y="373989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创新一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5089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37744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A5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960120" y="274320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2F6FB5"/>
          </a:solidFill>
          <a:ln w="12700">
            <a:solidFill>
              <a:srgbClr val="2F6FB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27432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2179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创新一：带质量反馈的叶背主动采集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4370832"/>
            <a:ext cx="768096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19050" dir="5400000">
              <a:srgbClr val="9FB4CC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30936" y="431596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D9A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4370832"/>
            <a:ext cx="7040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停车低位仰拍叶背并补光，拍不好当场补拍；普通相机加云台就够。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3840480"/>
            <a:ext cx="3566160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474720"/>
            <a:ext cx="411480" cy="4114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 flipV="1">
            <a:off x="1143000" y="3675888"/>
            <a:ext cx="256032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2" name="Text 9"/>
          <p:cNvSpPr txBox="1"/>
          <p:nvPr/>
        </p:nvSpPr>
        <p:spPr>
          <a:xfrm>
            <a:off x="3794760" y="35661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正面 0°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 flipV="1">
            <a:off x="1143000" y="2207349"/>
            <a:ext cx="2097291" cy="1468539"/>
          </a:xfrm>
          <a:prstGeom prst="line">
            <a:avLst/>
          </a:prstGeom>
          <a:noFill/>
          <a:ln w="19050">
            <a:solidFill>
              <a:srgbClr val="2F6FB5"/>
            </a:solidFill>
            <a:prstDash val="solid"/>
            <a:tailEnd type="triangle"/>
          </a:ln>
        </p:spPr>
      </p:sp>
      <p:sp>
        <p:nvSpPr>
          <p:cNvPr id="14" name="Text 11"/>
          <p:cNvSpPr txBox="1"/>
          <p:nvPr/>
        </p:nvSpPr>
        <p:spPr>
          <a:xfrm>
            <a:off x="3331731" y="2097621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F6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叶背 35°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 flipV="1">
            <a:off x="1143000" y="1714569"/>
            <a:ext cx="1645742" cy="1961319"/>
          </a:xfrm>
          <a:prstGeom prst="line">
            <a:avLst/>
          </a:prstGeom>
          <a:noFill/>
          <a:ln w="19050">
            <a:solidFill>
              <a:srgbClr val="2F6FB5"/>
            </a:solidFill>
            <a:prstDash val="solid"/>
            <a:tailEnd type="triangle"/>
          </a:ln>
        </p:spPr>
      </p:sp>
      <p:sp>
        <p:nvSpPr>
          <p:cNvPr id="16" name="Text 13"/>
          <p:cNvSpPr txBox="1"/>
          <p:nvPr/>
        </p:nvSpPr>
        <p:spPr>
          <a:xfrm>
            <a:off x="2880182" y="1604841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F6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叶背 50°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502920" y="1325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补光 · 相机离地约 0.2 m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02920" y="39593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示例视角；待试拍校准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572000" y="1280160"/>
            <a:ext cx="40690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19050" dir="5400000">
              <a:srgbClr val="9FB4CC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681728" y="1362456"/>
            <a:ext cx="402336" cy="402336"/>
          </a:xfrm>
          <a:prstGeom prst="ellipse">
            <a:avLst/>
          </a:prstGeom>
          <a:solidFill>
            <a:srgbClr val="E3EEFA"/>
          </a:solidFill>
          <a:ln w="12700">
            <a:solidFill>
              <a:srgbClr val="E3EE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8289" y="1459017"/>
            <a:ext cx="209215" cy="209215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5212080" y="1280160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停车拍一张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4882896" y="1847088"/>
            <a:ext cx="0" cy="146304"/>
          </a:xfrm>
          <a:prstGeom prst="line">
            <a:avLst/>
          </a:prstGeom>
          <a:noFill/>
          <a:ln w="19050">
            <a:solidFill>
              <a:srgbClr val="B9D2EE"/>
            </a:solidFill>
            <a:prstDash val="solid"/>
            <a:tailEnd type="triangle"/>
          </a:ln>
        </p:spPr>
      </p:sp>
      <p:sp>
        <p:nvSpPr>
          <p:cNvPr id="24" name="Shape 20"/>
          <p:cNvSpPr/>
          <p:nvPr/>
        </p:nvSpPr>
        <p:spPr>
          <a:xfrm>
            <a:off x="4572000" y="1993392"/>
            <a:ext cx="40690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19050" dir="5400000">
              <a:srgbClr val="9FB4CC">
                <a:alpha val="18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4681728" y="2075688"/>
            <a:ext cx="402336" cy="402336"/>
          </a:xfrm>
          <a:prstGeom prst="ellipse">
            <a:avLst/>
          </a:prstGeom>
          <a:solidFill>
            <a:srgbClr val="E3EEFA"/>
          </a:solidFill>
          <a:ln w="12700">
            <a:solidFill>
              <a:srgbClr val="E3EEFA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8289" y="2172249"/>
            <a:ext cx="209215" cy="209215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5212080" y="1993392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车上判断：清晰度、过曝、过暗、逆光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4882896" y="2560320"/>
            <a:ext cx="0" cy="146304"/>
          </a:xfrm>
          <a:prstGeom prst="line">
            <a:avLst/>
          </a:prstGeom>
          <a:noFill/>
          <a:ln w="19050">
            <a:solidFill>
              <a:srgbClr val="B9D2EE"/>
            </a:solidFill>
            <a:prstDash val="solid"/>
            <a:tailEnd type="triangle"/>
          </a:ln>
        </p:spPr>
      </p:sp>
      <p:sp>
        <p:nvSpPr>
          <p:cNvPr id="29" name="Shape 24"/>
          <p:cNvSpPr/>
          <p:nvPr/>
        </p:nvSpPr>
        <p:spPr>
          <a:xfrm>
            <a:off x="4572000" y="2706624"/>
            <a:ext cx="40690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19050" dir="5400000">
              <a:srgbClr val="9FB4CC">
                <a:alpha val="18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4681728" y="2788920"/>
            <a:ext cx="402336" cy="402336"/>
          </a:xfrm>
          <a:prstGeom prst="ellipse">
            <a:avLst/>
          </a:prstGeom>
          <a:solidFill>
            <a:srgbClr val="E3EEFA"/>
          </a:solidFill>
          <a:ln w="12700">
            <a:solidFill>
              <a:srgbClr val="E3EEFA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8289" y="2885481"/>
            <a:ext cx="209215" cy="209215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5212080" y="2706624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不合格：仰角 +5° 重拍，最多 3 次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4882896" y="3273552"/>
            <a:ext cx="0" cy="146304"/>
          </a:xfrm>
          <a:prstGeom prst="line">
            <a:avLst/>
          </a:prstGeom>
          <a:noFill/>
          <a:ln w="19050">
            <a:solidFill>
              <a:srgbClr val="B9D2EE"/>
            </a:solidFill>
            <a:prstDash val="solid"/>
            <a:tailEnd type="triangle"/>
          </a:ln>
        </p:spPr>
      </p:sp>
      <p:sp>
        <p:nvSpPr>
          <p:cNvPr id="34" name="Shape 28"/>
          <p:cNvSpPr/>
          <p:nvPr/>
        </p:nvSpPr>
        <p:spPr>
          <a:xfrm>
            <a:off x="4572000" y="3419856"/>
            <a:ext cx="40690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19050" dir="5400000">
              <a:srgbClr val="9FB4CC">
                <a:alpha val="18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4681728" y="3502152"/>
            <a:ext cx="402336" cy="402336"/>
          </a:xfrm>
          <a:prstGeom prst="ellipse">
            <a:avLst/>
          </a:prstGeom>
          <a:solidFill>
            <a:srgbClr val="E3EEFA"/>
          </a:solidFill>
          <a:ln w="12700">
            <a:solidFill>
              <a:srgbClr val="E3EEFA"/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8289" y="3598713"/>
            <a:ext cx="209215" cy="209215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5212080" y="3419856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每次尝试都上传，留作质量证据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5089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37744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A5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960120" y="274320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2F6FB5"/>
          </a:solidFill>
          <a:ln w="12700">
            <a:solidFill>
              <a:srgbClr val="2F6FB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27432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2179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创新二：同株时序追踪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4370832"/>
            <a:ext cx="768096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19050" dir="5400000">
              <a:srgbClr val="9FB4CC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30936" y="431596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D9A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4370832"/>
            <a:ext cx="7040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编码器加吊线二维码，把每天的照片对齐到同一株；不用轨道、不用 RTK。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4630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垄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051560" y="1417320"/>
            <a:ext cx="329184" cy="329184"/>
          </a:xfrm>
          <a:prstGeom prst="ellipse">
            <a:avLst/>
          </a:prstGeom>
          <a:solidFill>
            <a:srgbClr val="6DB57F"/>
          </a:solidFill>
          <a:ln w="9525">
            <a:solidFill>
              <a:srgbClr val="4E9F5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08760" y="1417320"/>
            <a:ext cx="329184" cy="329184"/>
          </a:xfrm>
          <a:prstGeom prst="ellipse">
            <a:avLst/>
          </a:prstGeom>
          <a:solidFill>
            <a:srgbClr val="6DB57F"/>
          </a:solidFill>
          <a:ln w="9525">
            <a:solidFill>
              <a:srgbClr val="4E9F5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65960" y="1417320"/>
            <a:ext cx="329184" cy="329184"/>
          </a:xfrm>
          <a:prstGeom prst="ellipse">
            <a:avLst/>
          </a:prstGeom>
          <a:solidFill>
            <a:srgbClr val="6DB57F"/>
          </a:solidFill>
          <a:ln w="9525">
            <a:solidFill>
              <a:srgbClr val="4E9F5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23160" y="1417320"/>
            <a:ext cx="329184" cy="329184"/>
          </a:xfrm>
          <a:prstGeom prst="ellipse">
            <a:avLst/>
          </a:prstGeom>
          <a:solidFill>
            <a:srgbClr val="6DB57F"/>
          </a:solidFill>
          <a:ln w="9525">
            <a:solidFill>
              <a:srgbClr val="4E9F5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80360" y="1417320"/>
            <a:ext cx="329184" cy="329184"/>
          </a:xfrm>
          <a:prstGeom prst="ellipse">
            <a:avLst/>
          </a:prstGeom>
          <a:solidFill>
            <a:srgbClr val="6DB57F"/>
          </a:solidFill>
          <a:ln w="9525">
            <a:solidFill>
              <a:srgbClr val="4E9F5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37560" y="1417320"/>
            <a:ext cx="329184" cy="329184"/>
          </a:xfrm>
          <a:prstGeom prst="ellipse">
            <a:avLst/>
          </a:prstGeom>
          <a:solidFill>
            <a:srgbClr val="6DB57F"/>
          </a:solidFill>
          <a:ln w="9525">
            <a:solidFill>
              <a:srgbClr val="4E9F5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94760" y="1417320"/>
            <a:ext cx="329184" cy="329184"/>
          </a:xfrm>
          <a:prstGeom prst="ellipse">
            <a:avLst/>
          </a:prstGeom>
          <a:solidFill>
            <a:srgbClr val="6DB57F"/>
          </a:solidFill>
          <a:ln w="9525">
            <a:solidFill>
              <a:srgbClr val="4E9F5E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0248" y="1453896"/>
            <a:ext cx="256032" cy="256032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594360" y="202996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垄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1051560" y="1984248"/>
            <a:ext cx="329184" cy="329184"/>
          </a:xfrm>
          <a:prstGeom prst="ellipse">
            <a:avLst/>
          </a:prstGeom>
          <a:solidFill>
            <a:srgbClr val="6DB57F"/>
          </a:solidFill>
          <a:ln w="9525">
            <a:solidFill>
              <a:srgbClr val="4E9F5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508760" y="1984248"/>
            <a:ext cx="329184" cy="329184"/>
          </a:xfrm>
          <a:prstGeom prst="ellipse">
            <a:avLst/>
          </a:prstGeom>
          <a:solidFill>
            <a:srgbClr val="6DB57F"/>
          </a:solidFill>
          <a:ln w="9525">
            <a:solidFill>
              <a:srgbClr val="4E9F5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965960" y="1984248"/>
            <a:ext cx="329184" cy="329184"/>
          </a:xfrm>
          <a:prstGeom prst="ellipse">
            <a:avLst/>
          </a:prstGeom>
          <a:solidFill>
            <a:srgbClr val="6DB57F"/>
          </a:solidFill>
          <a:ln w="9525">
            <a:solidFill>
              <a:srgbClr val="4E9F5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423160" y="1984248"/>
            <a:ext cx="329184" cy="329184"/>
          </a:xfrm>
          <a:prstGeom prst="ellipse">
            <a:avLst/>
          </a:prstGeom>
          <a:solidFill>
            <a:srgbClr val="6DB57F"/>
          </a:solidFill>
          <a:ln w="9525">
            <a:solidFill>
              <a:srgbClr val="4E9F5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880360" y="1984248"/>
            <a:ext cx="329184" cy="329184"/>
          </a:xfrm>
          <a:prstGeom prst="ellipse">
            <a:avLst/>
          </a:prstGeom>
          <a:solidFill>
            <a:srgbClr val="6DB57F"/>
          </a:solidFill>
          <a:ln w="9525">
            <a:solidFill>
              <a:srgbClr val="4E9F5E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337560" y="1984248"/>
            <a:ext cx="329184" cy="329184"/>
          </a:xfrm>
          <a:prstGeom prst="ellipse">
            <a:avLst/>
          </a:prstGeom>
          <a:solidFill>
            <a:srgbClr val="6DB57F"/>
          </a:solidFill>
          <a:ln w="9525">
            <a:solidFill>
              <a:srgbClr val="4E9F5E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794760" y="1984248"/>
            <a:ext cx="329184" cy="329184"/>
          </a:xfrm>
          <a:prstGeom prst="ellipse">
            <a:avLst/>
          </a:prstGeom>
          <a:solidFill>
            <a:srgbClr val="6DB57F"/>
          </a:solidFill>
          <a:ln w="9525">
            <a:solidFill>
              <a:srgbClr val="4E9F5E"/>
            </a:solidFill>
            <a:prstDash val="solid"/>
          </a:ln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0248" y="2020824"/>
            <a:ext cx="256032" cy="256032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594360" y="259689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垄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1051560" y="2551176"/>
            <a:ext cx="329184" cy="329184"/>
          </a:xfrm>
          <a:prstGeom prst="ellipse">
            <a:avLst/>
          </a:prstGeom>
          <a:solidFill>
            <a:srgbClr val="6DB57F"/>
          </a:solidFill>
          <a:ln w="9525">
            <a:solidFill>
              <a:srgbClr val="4E9F5E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1508760" y="2551176"/>
            <a:ext cx="329184" cy="329184"/>
          </a:xfrm>
          <a:prstGeom prst="ellipse">
            <a:avLst/>
          </a:prstGeom>
          <a:solidFill>
            <a:srgbClr val="6DB57F"/>
          </a:solidFill>
          <a:ln w="9525">
            <a:solidFill>
              <a:srgbClr val="4E9F5E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1965960" y="2551176"/>
            <a:ext cx="329184" cy="329184"/>
          </a:xfrm>
          <a:prstGeom prst="ellipse">
            <a:avLst/>
          </a:prstGeom>
          <a:solidFill>
            <a:srgbClr val="6DB57F"/>
          </a:solidFill>
          <a:ln w="9525">
            <a:solidFill>
              <a:srgbClr val="4E9F5E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2423160" y="2551176"/>
            <a:ext cx="329184" cy="329184"/>
          </a:xfrm>
          <a:prstGeom prst="ellipse">
            <a:avLst/>
          </a:prstGeom>
          <a:solidFill>
            <a:srgbClr val="6DB57F"/>
          </a:solidFill>
          <a:ln w="9525">
            <a:solidFill>
              <a:srgbClr val="4E9F5E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2880360" y="2551176"/>
            <a:ext cx="329184" cy="329184"/>
          </a:xfrm>
          <a:prstGeom prst="ellipse">
            <a:avLst/>
          </a:prstGeom>
          <a:solidFill>
            <a:srgbClr val="E9A823"/>
          </a:solidFill>
          <a:ln w="25400">
            <a:solidFill>
              <a:srgbClr val="C08A1E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3337560" y="2551176"/>
            <a:ext cx="329184" cy="329184"/>
          </a:xfrm>
          <a:prstGeom prst="ellipse">
            <a:avLst/>
          </a:prstGeom>
          <a:solidFill>
            <a:srgbClr val="6DB57F"/>
          </a:solidFill>
          <a:ln w="9525">
            <a:solidFill>
              <a:srgbClr val="4E9F5E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3794760" y="2551176"/>
            <a:ext cx="329184" cy="329184"/>
          </a:xfrm>
          <a:prstGeom prst="ellipse">
            <a:avLst/>
          </a:prstGeom>
          <a:solidFill>
            <a:srgbClr val="6DB57F"/>
          </a:solidFill>
          <a:ln w="9525">
            <a:solidFill>
              <a:srgbClr val="4E9F5E"/>
            </a:solidFill>
            <a:prstDash val="solid"/>
          </a:ln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0248" y="2587752"/>
            <a:ext cx="256032" cy="256032"/>
          </a:xfrm>
          <a:prstGeom prst="rect">
            <a:avLst/>
          </a:prstGeom>
        </p:spPr>
      </p:pic>
      <p:sp>
        <p:nvSpPr>
          <p:cNvPr id="36" name="Text 31"/>
          <p:cNvSpPr txBox="1"/>
          <p:nvPr/>
        </p:nvSpPr>
        <p:spPr>
          <a:xfrm>
            <a:off x="594360" y="316382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垄</a:t>
            </a:r>
            <a:endParaRPr lang="en-US" sz="950" dirty="0"/>
          </a:p>
        </p:txBody>
      </p:sp>
      <p:sp>
        <p:nvSpPr>
          <p:cNvPr id="37" name="Shape 32"/>
          <p:cNvSpPr/>
          <p:nvPr/>
        </p:nvSpPr>
        <p:spPr>
          <a:xfrm>
            <a:off x="1051560" y="3118104"/>
            <a:ext cx="329184" cy="329184"/>
          </a:xfrm>
          <a:prstGeom prst="ellipse">
            <a:avLst/>
          </a:prstGeom>
          <a:solidFill>
            <a:srgbClr val="6DB57F"/>
          </a:solidFill>
          <a:ln w="9525">
            <a:solidFill>
              <a:srgbClr val="4E9F5E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1508760" y="3118104"/>
            <a:ext cx="329184" cy="329184"/>
          </a:xfrm>
          <a:prstGeom prst="ellipse">
            <a:avLst/>
          </a:prstGeom>
          <a:solidFill>
            <a:srgbClr val="6DB57F"/>
          </a:solidFill>
          <a:ln w="9525">
            <a:solidFill>
              <a:srgbClr val="4E9F5E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1965960" y="3118104"/>
            <a:ext cx="329184" cy="329184"/>
          </a:xfrm>
          <a:prstGeom prst="ellipse">
            <a:avLst/>
          </a:prstGeom>
          <a:solidFill>
            <a:srgbClr val="6DB57F"/>
          </a:solidFill>
          <a:ln w="9525">
            <a:solidFill>
              <a:srgbClr val="4E9F5E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2423160" y="3118104"/>
            <a:ext cx="329184" cy="329184"/>
          </a:xfrm>
          <a:prstGeom prst="ellipse">
            <a:avLst/>
          </a:prstGeom>
          <a:solidFill>
            <a:srgbClr val="6DB57F"/>
          </a:solidFill>
          <a:ln w="9525">
            <a:solidFill>
              <a:srgbClr val="4E9F5E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2880360" y="3118104"/>
            <a:ext cx="329184" cy="329184"/>
          </a:xfrm>
          <a:prstGeom prst="ellipse">
            <a:avLst/>
          </a:prstGeom>
          <a:solidFill>
            <a:srgbClr val="6DB57F"/>
          </a:solidFill>
          <a:ln w="9525">
            <a:solidFill>
              <a:srgbClr val="4E9F5E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3337560" y="3118104"/>
            <a:ext cx="329184" cy="329184"/>
          </a:xfrm>
          <a:prstGeom prst="ellipse">
            <a:avLst/>
          </a:prstGeom>
          <a:solidFill>
            <a:srgbClr val="6DB57F"/>
          </a:solidFill>
          <a:ln w="9525">
            <a:solidFill>
              <a:srgbClr val="4E9F5E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3794760" y="3118104"/>
            <a:ext cx="329184" cy="329184"/>
          </a:xfrm>
          <a:prstGeom prst="ellipse">
            <a:avLst/>
          </a:prstGeom>
          <a:solidFill>
            <a:srgbClr val="6DB57F"/>
          </a:solidFill>
          <a:ln w="9525">
            <a:solidFill>
              <a:srgbClr val="4E9F5E"/>
            </a:solidFill>
            <a:prstDash val="solid"/>
          </a:ln>
        </p:spPr>
      </p:sp>
      <p:pic>
        <p:nvPicPr>
          <p:cNvPr id="4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0248" y="3154680"/>
            <a:ext cx="256032" cy="256032"/>
          </a:xfrm>
          <a:prstGeom prst="rect">
            <a:avLst/>
          </a:prstGeom>
        </p:spPr>
      </p:pic>
      <p:sp>
        <p:nvSpPr>
          <p:cNvPr id="45" name="Shape 39"/>
          <p:cNvSpPr/>
          <p:nvPr/>
        </p:nvSpPr>
        <p:spPr>
          <a:xfrm>
            <a:off x="2560320" y="3529584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BF3E0"/>
          </a:solidFill>
          <a:ln w="12700">
            <a:solidFill>
              <a:srgbClr val="FBF3E0"/>
            </a:solidFill>
            <a:prstDash val="solid"/>
          </a:ln>
        </p:spPr>
      </p:sp>
      <p:sp>
        <p:nvSpPr>
          <p:cNvPr id="46" name="Text 40"/>
          <p:cNvSpPr txBox="1"/>
          <p:nvPr/>
        </p:nvSpPr>
        <p:spPr>
          <a:xfrm>
            <a:off x="2560320" y="352958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R03-P005</a:t>
            </a:r>
            <a:endParaRPr lang="en-US" sz="1000" dirty="0"/>
          </a:p>
        </p:txBody>
      </p:sp>
      <p:pic>
        <p:nvPicPr>
          <p:cNvPr id="4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776472"/>
            <a:ext cx="329184" cy="329184"/>
          </a:xfrm>
          <a:prstGeom prst="rect">
            <a:avLst/>
          </a:prstGeom>
        </p:spPr>
      </p:pic>
      <p:sp>
        <p:nvSpPr>
          <p:cNvPr id="48" name="Shape 41"/>
          <p:cNvSpPr/>
          <p:nvPr/>
        </p:nvSpPr>
        <p:spPr>
          <a:xfrm>
            <a:off x="960120" y="3941064"/>
            <a:ext cx="2377440" cy="0"/>
          </a:xfrm>
          <a:prstGeom prst="line">
            <a:avLst/>
          </a:prstGeom>
          <a:noFill/>
          <a:ln w="19050">
            <a:solidFill>
              <a:srgbClr val="2F6FB5"/>
            </a:solidFill>
            <a:prstDash val="solid"/>
            <a:tailEnd type="triangle"/>
          </a:ln>
        </p:spPr>
      </p:sp>
      <p:sp>
        <p:nvSpPr>
          <p:cNvPr id="49" name="Text 42"/>
          <p:cNvSpPr txBox="1"/>
          <p:nvPr/>
        </p:nvSpPr>
        <p:spPr>
          <a:xfrm>
            <a:off x="1051560" y="3977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F6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编码器测行内距离</a:t>
            </a:r>
            <a:endParaRPr lang="en-US" sz="950" dirty="0"/>
          </a:p>
        </p:txBody>
      </p:sp>
      <p:pic>
        <p:nvPicPr>
          <p:cNvPr id="50" name="Image 5" descr="timeline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1261872"/>
            <a:ext cx="3566160" cy="2255072"/>
          </a:xfrm>
          <a:prstGeom prst="rect">
            <a:avLst/>
          </a:prstGeom>
        </p:spPr>
      </p:pic>
      <p:sp>
        <p:nvSpPr>
          <p:cNvPr id="51" name="Shape 43"/>
          <p:cNvSpPr/>
          <p:nvPr/>
        </p:nvSpPr>
        <p:spPr>
          <a:xfrm>
            <a:off x="5074920" y="1261872"/>
            <a:ext cx="3566160" cy="2255072"/>
          </a:xfrm>
          <a:prstGeom prst="rect">
            <a:avLst/>
          </a:prstGeom>
          <a:ln w="9525">
            <a:solidFill>
              <a:srgbClr val="DCE3EC"/>
            </a:solidFill>
            <a:prstDash val="solid"/>
          </a:ln>
        </p:spPr>
      </p:sp>
      <p:sp>
        <p:nvSpPr>
          <p:cNvPr id="52" name="Text 44"/>
          <p:cNvSpPr txBox="1"/>
          <p:nvPr/>
        </p:nvSpPr>
        <p:spPr>
          <a:xfrm>
            <a:off x="5074920" y="3626672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每株一个株号，标签内容就是株号</a:t>
            </a:r>
            <a:endParaRPr lang="en-US" sz="105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上传时按株号自动归档，找不到就建档待核对</a:t>
            </a:r>
            <a:endParaRPr lang="en-US" sz="105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每株状态：人工结论优先，模型分只作占位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5089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37744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A5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960120" y="274320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2F6FB5"/>
          </a:solidFill>
          <a:ln w="12700">
            <a:solidFill>
              <a:srgbClr val="2F6FB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27432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2179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创新三：环境风险驱动的采集与确认分配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4370832"/>
            <a:ext cx="768096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19050" dir="5400000">
              <a:srgbClr val="9FB4CC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30936" y="431596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D9A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4370832"/>
            <a:ext cx="7040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温湿度决定何时去，每株状态决定拍谁、推谁给人；风险不减少巡检。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384048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19050" dir="5400000">
              <a:srgbClr val="9FB4CC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7512" y="1417320"/>
            <a:ext cx="420624" cy="420624"/>
          </a:xfrm>
          <a:prstGeom prst="ellipse">
            <a:avLst/>
          </a:prstGeom>
          <a:solidFill>
            <a:srgbClr val="E3EEFA"/>
          </a:solidFill>
          <a:ln w="12700">
            <a:solidFill>
              <a:srgbClr val="E3EEFA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462" y="1518270"/>
            <a:ext cx="218724" cy="218724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188720" y="141732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棚内环境指数（近 72 小时）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67512" y="1965960"/>
            <a:ext cx="3520440" cy="457200"/>
          </a:xfrm>
          <a:prstGeom prst="roundRect">
            <a:avLst>
              <a:gd name="adj" fmla="val 12000"/>
            </a:avLst>
          </a:prstGeom>
          <a:solidFill>
            <a:srgbClr val="F3F8FD"/>
          </a:solidFill>
          <a:ln w="12700">
            <a:solidFill>
              <a:srgbClr val="B9D2E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67512" y="196596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指数 = 1 − exp(−(适宜 + 湿润小时) / 24)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" y="2560320"/>
            <a:ext cx="3520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适宜：15–25℃ 且相对湿度 ≥85%</a:t>
            </a:r>
            <a:endParaRPr lang="en-US" sz="105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湿润：相对湿度 ≥95% 或露点差 ≤1℃</a:t>
            </a:r>
            <a:endParaRPr lang="en-US" sz="105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前夜湿润 ≥4 小时 → 次日 05:30–08:30 清晨叶背窗口</a:t>
            </a:r>
            <a:endParaRPr lang="en-US" sz="105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读数不足时为空，不当作低风险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0" y="12801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每天四张互斥名单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572000" y="1664208"/>
            <a:ext cx="192024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19050" dir="5400000">
              <a:srgbClr val="9FB4CC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700016" y="1783080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EFE9FB"/>
          </a:solidFill>
          <a:ln w="12700">
            <a:solidFill>
              <a:srgbClr val="EFE9F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700016" y="17830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21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推给人确认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4700016" y="209397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 5 株，按模型分排序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629400" y="1664208"/>
            <a:ext cx="192024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19050" dir="5400000">
              <a:srgbClr val="9FB4CC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757416" y="1783080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E8EFFD"/>
          </a:solidFill>
          <a:ln w="12700">
            <a:solidFill>
              <a:srgbClr val="E8EFFD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757416" y="17830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叶背补拍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6757416" y="209397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预算随环境指数在 10%–25% 间变化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572000" y="2624328"/>
            <a:ext cx="192024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19050" dir="5400000">
              <a:srgbClr val="9FB4CC">
                <a:alpha val="1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700016" y="2743200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E5F6FE"/>
          </a:solidFill>
          <a:ln w="12700">
            <a:solidFill>
              <a:srgbClr val="E5F6FE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700016" y="27432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369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低频全覆盖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4700016" y="305409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天没看到的株，不限预算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6629400" y="2624328"/>
            <a:ext cx="192024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19050" dir="5400000">
              <a:srgbClr val="9FB4CC">
                <a:alpha val="1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6757416" y="2743200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757416" y="27432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随机抽查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6757416" y="305409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每天抽 5%，至少 1 株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4572000" y="3639312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08A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人判健康后若又拍到早期分数的新叶背，会重新推给人（planner-v1）。公式与参数是启发式，待试拍校准。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5089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37744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A5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960120" y="274320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2F6FB5"/>
          </a:solidFill>
          <a:ln w="12700">
            <a:solidFill>
              <a:srgbClr val="2F6FB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27432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2179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和已有方案有何不同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4370832"/>
            <a:ext cx="768096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19050" dir="5400000">
              <a:srgbClr val="9FB4CC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30936" y="431596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D9A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4370832"/>
            <a:ext cx="7040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单项都有先例，我们用风险和拍摄质量把它们串成闭环。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81381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103120"/>
                <a:gridCol w="28346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已有方案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F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做了什么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F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巡知多做的一步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F5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温室黄瓜叶部病害巡检与识别机器人（CN221048423U）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巡检机器人 + 识别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拍完当场判断质量，不合格补拍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Viewnetic（US11483471B2）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补光仰拍叶背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每天的叶背对齐到同一株，看病斑是否发展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农大 / 北大，Frontiers 2026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环境引导的三阶段早期检测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环境和每株状态决定补拍谁、推谁给人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502920" y="37490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「健康 / 早期 / 明显」三阶段标注口径引自 Frontiers 2026，不算我们的创新；早期确认是闭环的产出。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5089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37744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A5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960120" y="274320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2F6FB5"/>
          </a:solidFill>
          <a:ln w="12700">
            <a:solidFill>
              <a:srgbClr val="2F6FB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27432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2179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方法已验证：识别与选样我们做过客观评估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4370832"/>
            <a:ext cx="768096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19050" dir="5400000">
              <a:srgbClr val="9FB4CC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30936" y="431596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D9A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4370832"/>
            <a:ext cx="7040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小麦阶段的成果证明方法做得出来，不用来说明大棚上的效果。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1325880"/>
            <a:ext cx="256032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19050" dir="5400000">
              <a:srgbClr val="9FB4CC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85800" y="1463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A5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0.82</a:t>
            </a:r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F1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17627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条锈病图块识别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2542032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公开田间数据 NWRD 官方测试集；ROC-AUC 0.93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46120" y="1325880"/>
            <a:ext cx="256032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19050" dir="5400000">
              <a:srgbClr val="9FB4CC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3429000" y="1463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A5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40–50%</a:t>
            </a:r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标注量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217627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主动选样省下的标注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2542032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病株稀少（阳性 ≤10%）时，100–120 个标注达到随机选 200 个的效果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89320" y="1325880"/>
            <a:ext cx="256032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19050" dir="5400000">
              <a:srgbClr val="9FB4CC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172200" y="1463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A5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H1–H3</a:t>
            </a:r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离线重放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6172200" y="217627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上线前先比策略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172200" y="2542032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巡检策略、标注选样都能在同一份真值上离线比较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" y="3611880"/>
            <a:ext cx="8138160" cy="621792"/>
          </a:xfrm>
          <a:prstGeom prst="roundRect">
            <a:avLst>
              <a:gd name="adj" fmla="val 14706"/>
            </a:avLst>
          </a:prstGeom>
          <a:solidFill>
            <a:srgbClr val="FBF3E0"/>
          </a:solidFill>
          <a:ln w="9525">
            <a:solidFill>
              <a:srgbClr val="E8D2A0"/>
            </a:solidFill>
            <a:prstDash val="solid"/>
          </a:ln>
          <a:effectLst>
            <a:outerShdw sx="100000" sy="100000" kx="0" ky="0" algn="bl" rotWithShape="0" blurRad="76200" dist="19050" dir="5400000">
              <a:srgbClr val="9FB4CC">
                <a:alpha val="1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85800" y="361188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54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如实说明：识别对象是小麦条锈病，不是黄瓜霜霉病；原始比例（约 1/3 阳性）下三种选样没有差别，稀释条件是看到结果后追加的；小麦风险模型不用于大棚。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5089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37744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A5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960120" y="274320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2F6FB5"/>
          </a:solidFill>
          <a:ln w="12700">
            <a:solidFill>
              <a:srgbClr val="2F6FB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27432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2179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当前进展：大棚软件主线已跑通，下一步试拍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4370832"/>
            <a:ext cx="768096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19050" dir="5400000">
              <a:srgbClr val="9FB4CC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30936" y="431596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D9A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4370832"/>
            <a:ext cx="7040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软件闭环已经在模拟大棚里转起来；还差真车和大棚实拍。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129844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按株建档、单株时间线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0" y="1335024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E6F4EC"/>
          </a:solidFill>
          <a:ln w="12700">
            <a:solidFill>
              <a:srgbClr val="E6F4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57600" y="133502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6B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170078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棚内温湿度、环境指数、每天四张名单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0" y="1737360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E6F4EC"/>
          </a:solidFill>
          <a:ln w="12700">
            <a:solidFill>
              <a:srgbClr val="E6F4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57600" y="173736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6B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210312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车端质量判断与补拍、分步上传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0" y="2139696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E6F4EC"/>
          </a:solidFill>
          <a:ln w="12700">
            <a:solidFill>
              <a:srgbClr val="E6F4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657600" y="213969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6B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已完成（假硬件）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250545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前端：工作台、手机确认、展示屏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0" y="2542032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E6F4EC"/>
          </a:solidFill>
          <a:ln w="12700">
            <a:solidFill>
              <a:srgbClr val="E6F4E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657600" y="254203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6B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502920" y="290779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大棚模拟与巡检策略比较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0" y="2944368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E6F4EC"/>
          </a:solidFill>
          <a:ln w="12700">
            <a:solidFill>
              <a:srgbClr val="E6F4E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657600" y="294436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6B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502920" y="331012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小车离线执行巡检计划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0" y="3346704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FDF3DC"/>
          </a:solidFill>
          <a:ln w="12700">
            <a:solidFill>
              <a:srgbClr val="FDF3D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657600" y="334670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5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进行中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02920" y="371246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真车硬件、大棚实拍、霜霉病识别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0" y="3749040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657600" y="374904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未开始</a:t>
            </a:r>
            <a:endParaRPr lang="en-US" sz="950" dirty="0"/>
          </a:p>
        </p:txBody>
      </p:sp>
      <p:pic>
        <p:nvPicPr>
          <p:cNvPr id="30" name="Image 0" descr="workbench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0" y="1298448"/>
            <a:ext cx="3566160" cy="1783080"/>
          </a:xfrm>
          <a:prstGeom prst="rect">
            <a:avLst/>
          </a:prstGeom>
        </p:spPr>
      </p:pic>
      <p:sp>
        <p:nvSpPr>
          <p:cNvPr id="31" name="Shape 28"/>
          <p:cNvSpPr/>
          <p:nvPr/>
        </p:nvSpPr>
        <p:spPr>
          <a:xfrm>
            <a:off x="4983480" y="1298448"/>
            <a:ext cx="3566160" cy="1783080"/>
          </a:xfrm>
          <a:prstGeom prst="rect">
            <a:avLst/>
          </a:prstGeom>
          <a:ln w="9525">
            <a:solidFill>
              <a:srgbClr val="DCE3EC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983480" y="3191256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A5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302</a:t>
            </a:r>
            <a:endParaRPr lang="en-US" sz="2200" dirty="0"/>
          </a:p>
        </p:txBody>
      </p:sp>
      <p:sp>
        <p:nvSpPr>
          <p:cNvPr id="33" name="Text 30"/>
          <p:cNvSpPr txBox="1"/>
          <p:nvPr/>
        </p:nvSpPr>
        <p:spPr>
          <a:xfrm>
            <a:off x="4983480" y="359359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项后端测试全过</a:t>
            </a:r>
            <a:endParaRPr lang="en-US" sz="950" dirty="0"/>
          </a:p>
        </p:txBody>
      </p:sp>
      <p:sp>
        <p:nvSpPr>
          <p:cNvPr id="34" name="Text 31"/>
          <p:cNvSpPr txBox="1"/>
          <p:nvPr/>
        </p:nvSpPr>
        <p:spPr>
          <a:xfrm>
            <a:off x="6172200" y="3191256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A5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2200" dirty="0"/>
          </a:p>
        </p:txBody>
      </p:sp>
      <p:sp>
        <p:nvSpPr>
          <p:cNvPr id="35" name="Text 32"/>
          <p:cNvSpPr txBox="1"/>
          <p:nvPr/>
        </p:nvSpPr>
        <p:spPr>
          <a:xfrm>
            <a:off x="6172200" y="359359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张表</a:t>
            </a:r>
            <a:endParaRPr lang="en-US" sz="950" dirty="0"/>
          </a:p>
        </p:txBody>
      </p:sp>
      <p:sp>
        <p:nvSpPr>
          <p:cNvPr id="36" name="Text 33"/>
          <p:cNvSpPr txBox="1"/>
          <p:nvPr/>
        </p:nvSpPr>
        <p:spPr>
          <a:xfrm>
            <a:off x="7360920" y="3191256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A5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2200" dirty="0"/>
          </a:p>
        </p:txBody>
      </p:sp>
      <p:sp>
        <p:nvSpPr>
          <p:cNvPr id="37" name="Text 34"/>
          <p:cNvSpPr txBox="1"/>
          <p:nvPr/>
        </p:nvSpPr>
        <p:spPr>
          <a:xfrm>
            <a:off x="7360920" y="359359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个迁移</a:t>
            </a:r>
            <a:endParaRPr lang="en-US" sz="950" dirty="0"/>
          </a:p>
        </p:txBody>
      </p:sp>
      <p:sp>
        <p:nvSpPr>
          <p:cNvPr id="38" name="Text 35"/>
          <p:cNvSpPr txBox="1"/>
          <p:nvPr/>
        </p:nvSpPr>
        <p:spPr>
          <a:xfrm>
            <a:off x="4983480" y="385876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模拟里同样的照片和人工预算下，风险驱动确认出 13.25 株、固定巡检 5.9 株（20 个种子均值）。模拟只证明流程，不是效果证据。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5089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37744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A5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960120" y="274320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2F6FB5"/>
          </a:solidFill>
          <a:ln w="12700">
            <a:solidFill>
              <a:srgbClr val="2F6FB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27432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2179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验证计划：先试拍，再按株跟踪一整茬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4370832"/>
            <a:ext cx="768096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19050" dir="5400000">
              <a:srgbClr val="9FB4CC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30936" y="431596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D9A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4370832"/>
            <a:ext cx="7040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一茬一茬验证：先确认拍得到，再看能提前多少发现病株。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5800" y="1828800"/>
            <a:ext cx="7772400" cy="0"/>
          </a:xfrm>
          <a:prstGeom prst="line">
            <a:avLst/>
          </a:prstGeom>
          <a:noFill/>
          <a:ln w="25400">
            <a:solidFill>
              <a:srgbClr val="B9D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" y="1700784"/>
            <a:ext cx="256032" cy="256032"/>
          </a:xfrm>
          <a:prstGeom prst="ellipse">
            <a:avLst/>
          </a:prstGeom>
          <a:solidFill>
            <a:srgbClr val="D9A52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" y="1280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08A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月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" y="2148840"/>
            <a:ext cx="19202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19050" dir="5400000">
              <a:srgbClr val="9FB4CC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0080" y="22860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软件准备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2670048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小车离线执行巡检计划；器件选型（云台、编码器、标签、温湿度记录仪）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670048" y="1700784"/>
            <a:ext cx="256032" cy="256032"/>
          </a:xfrm>
          <a:prstGeom prst="ellipse">
            <a:avLst/>
          </a:prstGeom>
          <a:solidFill>
            <a:srgbClr val="D9A52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560320" y="1280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08A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月前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560320" y="2148840"/>
            <a:ext cx="19202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19050" dir="5400000">
              <a:srgbClr val="9FB4CC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2697480" y="22860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大棚试拍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2697480" y="2670048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仰拍能否看清叶背、清晨窗口是否存在、补拍一次多久、过道多宽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27448" y="1700784"/>
            <a:ext cx="256032" cy="256032"/>
          </a:xfrm>
          <a:prstGeom prst="ellipse">
            <a:avLst/>
          </a:prstGeom>
          <a:solidFill>
            <a:srgbClr val="D9A52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17720" y="1280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08A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冬季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617720" y="2148840"/>
            <a:ext cx="19202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19050" dir="5400000">
              <a:srgbClr val="9FB4CC">
                <a:alpha val="1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4754880" y="22860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识别基线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754880" y="2670048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公开数据先训「霜霉病 / 健康」；日光温室继续采集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784848" y="1700784"/>
            <a:ext cx="256032" cy="256032"/>
          </a:xfrm>
          <a:prstGeom prst="ellipse">
            <a:avLst/>
          </a:prstGeom>
          <a:solidFill>
            <a:srgbClr val="D9A52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75120" y="1280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08A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春茬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675120" y="2148840"/>
            <a:ext cx="19202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19050" dir="5400000">
              <a:srgbClr val="9FB4CC">
                <a:alpha val="18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6812280" y="22860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按株跟踪验证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812280" y="2670048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整茬按株跟踪，与人工巡棚对比提前量和人工投入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5089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37744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A5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960120" y="274320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2F6FB5"/>
          </a:solidFill>
          <a:ln w="12700">
            <a:solidFill>
              <a:srgbClr val="2F6FB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27432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2179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用户与商业模式：先进规整大棚，再进散户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4370832"/>
            <a:ext cx="768096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19050" dir="5400000">
              <a:srgbClr val="9FB4CC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30936" y="431596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D9A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4370832"/>
            <a:ext cx="7040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我国设施面积 4270 多万亩，八成以上种蔬菜。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1298448"/>
            <a:ext cx="192024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19050" dir="5400000">
              <a:srgbClr val="9FB4CC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0080" y="140817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A5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4270 万亩+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8745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全国设施面积，占世界 80% 以上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60320" y="1298448"/>
            <a:ext cx="192024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19050" dir="5400000">
              <a:srgbClr val="9FB4CC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2697480" y="140817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A5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80%+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2697480" y="18745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设施面积用于种蔬菜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2505456"/>
            <a:ext cx="192024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19050" dir="5400000">
              <a:srgbClr val="9FB4CC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40080" y="261518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A5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2.65 亿吨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08152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设施蔬菜年产量，占蔬菜总产量 1/3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560320" y="2505456"/>
            <a:ext cx="192024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19050" dir="5400000">
              <a:srgbClr val="9FB4CC">
                <a:alpha val="1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2697480" y="261518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A5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128 万公顷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2697480" y="308152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全国黄瓜生产面积（FAO 2020）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" y="37490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来源：农业农村部计划财务司（2024-12）；光明网科普引 FAO 2020。设施黄瓜面积【待补】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46320" y="1298448"/>
            <a:ext cx="3794760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19050" dir="5400000">
              <a:srgbClr val="9FB4CC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956048" y="1426464"/>
            <a:ext cx="420624" cy="420624"/>
          </a:xfrm>
          <a:prstGeom prst="ellipse">
            <a:avLst/>
          </a:prstGeom>
          <a:solidFill>
            <a:srgbClr val="E3EEFA"/>
          </a:solidFill>
          <a:ln w="12700">
            <a:solidFill>
              <a:srgbClr val="E3EEFA"/>
            </a:solidFill>
            <a:prstDash val="solid"/>
          </a:ln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56998" y="1527414"/>
            <a:ext cx="218724" cy="218724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5486400" y="1389888"/>
            <a:ext cx="640080" cy="237744"/>
          </a:xfrm>
          <a:prstGeom prst="roundRect">
            <a:avLst>
              <a:gd name="adj" fmla="val 50000"/>
            </a:avLst>
          </a:prstGeom>
          <a:solidFill>
            <a:srgbClr val="2F6FB5"/>
          </a:solidFill>
          <a:ln w="12700">
            <a:solidFill>
              <a:srgbClr val="2F6FB5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486400" y="138988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6217920" y="1371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规整的大棚基地、合作社</a:t>
            </a:r>
            <a:endParaRPr lang="en-US" sz="1150" dirty="0"/>
          </a:p>
        </p:txBody>
      </p:sp>
      <p:sp>
        <p:nvSpPr>
          <p:cNvPr id="28" name="Text 25"/>
          <p:cNvSpPr txBox="1"/>
          <p:nvPr/>
        </p:nvSpPr>
        <p:spPr>
          <a:xfrm>
            <a:off x="5486400" y="168249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过道规整，用小车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846320" y="2084832"/>
            <a:ext cx="3794760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19050" dir="5400000">
              <a:srgbClr val="9FB4CC">
                <a:alpha val="1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956048" y="2212848"/>
            <a:ext cx="420624" cy="420624"/>
          </a:xfrm>
          <a:prstGeom prst="ellipse">
            <a:avLst/>
          </a:prstGeom>
          <a:solidFill>
            <a:srgbClr val="E3EEFA"/>
          </a:solidFill>
          <a:ln w="12700">
            <a:solidFill>
              <a:srgbClr val="E3EEFA"/>
            </a:solidFill>
            <a:prstDash val="solid"/>
          </a:ln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6998" y="2313798"/>
            <a:ext cx="218724" cy="218724"/>
          </a:xfrm>
          <a:prstGeom prst="rect">
            <a:avLst/>
          </a:prstGeom>
        </p:spPr>
      </p:pic>
      <p:sp>
        <p:nvSpPr>
          <p:cNvPr id="32" name="Shape 28"/>
          <p:cNvSpPr/>
          <p:nvPr/>
        </p:nvSpPr>
        <p:spPr>
          <a:xfrm>
            <a:off x="5486400" y="2176272"/>
            <a:ext cx="640080" cy="237744"/>
          </a:xfrm>
          <a:prstGeom prst="roundRect">
            <a:avLst>
              <a:gd name="adj" fmla="val 50000"/>
            </a:avLst>
          </a:prstGeom>
          <a:solidFill>
            <a:srgbClr val="2F6FB5"/>
          </a:solidFill>
          <a:ln w="12700">
            <a:solidFill>
              <a:srgbClr val="2F6FB5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5486400" y="217627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第二步</a:t>
            </a:r>
            <a:endParaRPr lang="en-US" sz="950" dirty="0"/>
          </a:p>
        </p:txBody>
      </p:sp>
      <p:sp>
        <p:nvSpPr>
          <p:cNvPr id="34" name="Text 30"/>
          <p:cNvSpPr txBox="1"/>
          <p:nvPr/>
        </p:nvSpPr>
        <p:spPr>
          <a:xfrm>
            <a:off x="6217920" y="21579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农技服务站、植保服务队</a:t>
            </a:r>
            <a:endParaRPr lang="en-US" sz="1150" dirty="0"/>
          </a:p>
        </p:txBody>
      </p:sp>
      <p:sp>
        <p:nvSpPr>
          <p:cNvPr id="35" name="Text 31"/>
          <p:cNvSpPr txBox="1"/>
          <p:nvPr/>
        </p:nvSpPr>
        <p:spPr>
          <a:xfrm>
            <a:off x="5486400" y="24688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一套设备服务多个棚【待核实】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4846320" y="2871216"/>
            <a:ext cx="3794760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19050" dir="5400000">
              <a:srgbClr val="9FB4CC">
                <a:alpha val="18000"/>
              </a:srgbClr>
            </a:outerShdw>
          </a:effectLst>
        </p:spPr>
      </p:sp>
      <p:sp>
        <p:nvSpPr>
          <p:cNvPr id="37" name="Shape 33"/>
          <p:cNvSpPr/>
          <p:nvPr/>
        </p:nvSpPr>
        <p:spPr>
          <a:xfrm>
            <a:off x="4956048" y="2999232"/>
            <a:ext cx="420624" cy="420624"/>
          </a:xfrm>
          <a:prstGeom prst="ellipse">
            <a:avLst/>
          </a:prstGeom>
          <a:solidFill>
            <a:srgbClr val="E3EEFA"/>
          </a:solidFill>
          <a:ln w="12700">
            <a:solidFill>
              <a:srgbClr val="E3EEFA"/>
            </a:solidFill>
            <a:prstDash val="solid"/>
          </a:ln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6998" y="3100182"/>
            <a:ext cx="218724" cy="218724"/>
          </a:xfrm>
          <a:prstGeom prst="rect">
            <a:avLst/>
          </a:prstGeom>
        </p:spPr>
      </p:pic>
      <p:sp>
        <p:nvSpPr>
          <p:cNvPr id="39" name="Shape 34"/>
          <p:cNvSpPr/>
          <p:nvPr/>
        </p:nvSpPr>
        <p:spPr>
          <a:xfrm>
            <a:off x="5486400" y="2962656"/>
            <a:ext cx="640080" cy="237744"/>
          </a:xfrm>
          <a:prstGeom prst="roundRect">
            <a:avLst>
              <a:gd name="adj" fmla="val 50000"/>
            </a:avLst>
          </a:prstGeom>
          <a:solidFill>
            <a:srgbClr val="2F6FB5"/>
          </a:solidFill>
          <a:ln w="12700">
            <a:solidFill>
              <a:srgbClr val="2F6FB5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5486400" y="296265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第三步</a:t>
            </a:r>
            <a:endParaRPr lang="en-US" sz="950" dirty="0"/>
          </a:p>
        </p:txBody>
      </p:sp>
      <p:sp>
        <p:nvSpPr>
          <p:cNvPr id="41" name="Text 36"/>
          <p:cNvSpPr txBox="1"/>
          <p:nvPr/>
        </p:nvSpPr>
        <p:spPr>
          <a:xfrm>
            <a:off x="6217920" y="29443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散户塑料大棚</a:t>
            </a:r>
            <a:endParaRPr lang="en-US" sz="1150" dirty="0"/>
          </a:p>
        </p:txBody>
      </p:sp>
      <p:sp>
        <p:nvSpPr>
          <p:cNvPr id="42" name="Text 37"/>
          <p:cNvSpPr txBox="1"/>
          <p:nvPr/>
        </p:nvSpPr>
        <p:spPr>
          <a:xfrm>
            <a:off x="5486400" y="325526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手持杆式或手推式设备，离线采集</a:t>
            </a:r>
            <a:endParaRPr lang="en-US" sz="1000" dirty="0"/>
          </a:p>
        </p:txBody>
      </p:sp>
      <p:sp>
        <p:nvSpPr>
          <p:cNvPr id="43" name="Text 38"/>
          <p:cNvSpPr txBox="1"/>
          <p:nvPr/>
        </p:nvSpPr>
        <p:spPr>
          <a:xfrm>
            <a:off x="4846320" y="373075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08A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收费方式与定价：【待填】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5089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37744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A5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960120" y="274320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2F6FB5"/>
          </a:solidFill>
          <a:ln w="12700">
            <a:solidFill>
              <a:srgbClr val="2F6FB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27432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2179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社会价值：让病在叶背阶段就被看到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4370832"/>
            <a:ext cx="768096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19050" dir="5400000">
              <a:srgbClr val="9FB4CC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30936" y="431596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D9A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4370832"/>
            <a:ext cx="7040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设施高湿环境病虫害高发、乱用药屡禁不止；早看到，才能少用药。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1298448"/>
            <a:ext cx="39319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19050" dir="5400000">
              <a:srgbClr val="9FB4CC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5800" y="1499616"/>
            <a:ext cx="530352" cy="530352"/>
          </a:xfrm>
          <a:prstGeom prst="ellipse">
            <a:avLst/>
          </a:prstGeom>
          <a:solidFill>
            <a:srgbClr val="E3EEFA"/>
          </a:solidFill>
          <a:ln w="12700">
            <a:solidFill>
              <a:srgbClr val="E3EEFA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084" y="1626900"/>
            <a:ext cx="275783" cy="275783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371600" y="148132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少用药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371600" y="1892808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病在叶背阶段就被看到、被确认，处理更早，减少大面积打药的需要【效果待田间验证】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617720" y="1298448"/>
            <a:ext cx="39319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19050" dir="5400000">
              <a:srgbClr val="9FB4CC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800600" y="1499616"/>
            <a:ext cx="530352" cy="530352"/>
          </a:xfrm>
          <a:prstGeom prst="ellipse">
            <a:avLst/>
          </a:prstGeom>
          <a:solidFill>
            <a:srgbClr val="E3EEFA"/>
          </a:solidFill>
          <a:ln w="12700">
            <a:solidFill>
              <a:srgbClr val="E3EEFA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7884" y="1626900"/>
            <a:ext cx="275783" cy="275783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486400" y="148132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省翻叶人工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5486400" y="1892808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人只确认被推送的几株，不必每天逐株翻叶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502920" y="2779776"/>
            <a:ext cx="39319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19050" dir="5400000">
              <a:srgbClr val="9FB4CC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85800" y="2980944"/>
            <a:ext cx="530352" cy="530352"/>
          </a:xfrm>
          <a:prstGeom prst="ellipse">
            <a:avLst/>
          </a:prstGeom>
          <a:solidFill>
            <a:srgbClr val="E3EEFA"/>
          </a:solidFill>
          <a:ln w="12700">
            <a:solidFill>
              <a:srgbClr val="E3EEFA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084" y="3108228"/>
            <a:ext cx="275783" cy="275783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6265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结论可追溯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1371600" y="3374136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每条结论都能追到原图、拍摄质量和确认人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4617720" y="2779776"/>
            <a:ext cx="39319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19050" dir="5400000">
              <a:srgbClr val="9FB4CC">
                <a:alpha val="1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800600" y="2980944"/>
            <a:ext cx="530352" cy="530352"/>
          </a:xfrm>
          <a:prstGeom prst="ellipse">
            <a:avLst/>
          </a:prstGeom>
          <a:solidFill>
            <a:srgbClr val="E3EEFA"/>
          </a:solidFill>
          <a:ln w="12700">
            <a:solidFill>
              <a:srgbClr val="E3EEFA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7884" y="3108228"/>
            <a:ext cx="275783" cy="275783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5486400" y="296265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低成本可推广</a:t>
            </a:r>
            <a:endParaRPr lang="en-US" sz="1500" dirty="0"/>
          </a:p>
        </p:txBody>
      </p:sp>
      <p:sp>
        <p:nvSpPr>
          <p:cNvPr id="28" name="Text 22"/>
          <p:cNvSpPr txBox="1"/>
          <p:nvPr/>
        </p:nvSpPr>
        <p:spPr>
          <a:xfrm>
            <a:off x="5486400" y="3374136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普通相机 + 树莓派，不改造大棚；散户可用手持设备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5089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37744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A5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960120" y="274320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2F6FB5"/>
          </a:solidFill>
          <a:ln w="12700">
            <a:solidFill>
              <a:srgbClr val="2F6FB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27432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2179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团队与需要的支持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4370832"/>
            <a:ext cx="768096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19050" dir="5400000">
              <a:srgbClr val="9FB4CC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30936" y="431596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D9A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4370832"/>
            <a:ext cx="7040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四个方向对应四个子系统；我们最需要大棚场地和农技专家。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1298448"/>
            <a:ext cx="1920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19050" dir="5400000">
              <a:srgbClr val="9FB4CC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188720" y="1444752"/>
            <a:ext cx="548640" cy="548640"/>
          </a:xfrm>
          <a:prstGeom prst="ellipse">
            <a:avLst/>
          </a:prstGeom>
          <a:solidFill>
            <a:srgbClr val="E3EEFA"/>
          </a:solidFill>
          <a:ln w="12700">
            <a:solidFill>
              <a:srgbClr val="E3EEFA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0394" y="1576426"/>
            <a:ext cx="285293" cy="285293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594360" y="207568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小车与硬件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12648" y="2395728"/>
            <a:ext cx="1700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云台、补光、编码器、标签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594360" y="28163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8A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【待填：姓名 · 专业】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2560320" y="1298448"/>
            <a:ext cx="1920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19050" dir="5400000">
              <a:srgbClr val="9FB4CC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246120" y="1444752"/>
            <a:ext cx="548640" cy="548640"/>
          </a:xfrm>
          <a:prstGeom prst="ellipse">
            <a:avLst/>
          </a:prstGeom>
          <a:solidFill>
            <a:srgbClr val="E3EEFA"/>
          </a:solidFill>
          <a:ln w="12700">
            <a:solidFill>
              <a:srgbClr val="E3EEFA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7794" y="1576426"/>
            <a:ext cx="285293" cy="285293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2651760" y="207568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车端采集软件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2670048" y="2395728"/>
            <a:ext cx="1700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质量判断、补拍、断网续传</a:t>
            </a:r>
            <a:endParaRPr lang="en-US" sz="950" dirty="0"/>
          </a:p>
        </p:txBody>
      </p:sp>
      <p:sp>
        <p:nvSpPr>
          <p:cNvPr id="20" name="Text 16"/>
          <p:cNvSpPr txBox="1"/>
          <p:nvPr/>
        </p:nvSpPr>
        <p:spPr>
          <a:xfrm>
            <a:off x="2651760" y="28163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8A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【待填：姓名 · 专业】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4617720" y="1298448"/>
            <a:ext cx="1920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19050" dir="5400000">
              <a:srgbClr val="9FB4CC">
                <a:alpha val="1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5303520" y="1444752"/>
            <a:ext cx="548640" cy="548640"/>
          </a:xfrm>
          <a:prstGeom prst="ellipse">
            <a:avLst/>
          </a:prstGeom>
          <a:solidFill>
            <a:srgbClr val="E3EEFA"/>
          </a:solidFill>
          <a:ln w="12700">
            <a:solidFill>
              <a:srgbClr val="E3EEFA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5194" y="1576426"/>
            <a:ext cx="285293" cy="285293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4709160" y="207568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平台与决策</a:t>
            </a:r>
            <a:endParaRPr lang="en-US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4727448" y="2395728"/>
            <a:ext cx="1700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按株归档、环境指数、巡检名单</a:t>
            </a:r>
            <a:endParaRPr lang="en-US" sz="950" dirty="0"/>
          </a:p>
        </p:txBody>
      </p:sp>
      <p:sp>
        <p:nvSpPr>
          <p:cNvPr id="26" name="Text 21"/>
          <p:cNvSpPr txBox="1"/>
          <p:nvPr/>
        </p:nvSpPr>
        <p:spPr>
          <a:xfrm>
            <a:off x="4709160" y="28163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8A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【待填：姓名 · 专业】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6675120" y="1298448"/>
            <a:ext cx="1920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19050" dir="5400000">
              <a:srgbClr val="9FB4CC">
                <a:alpha val="18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7360920" y="1444752"/>
            <a:ext cx="548640" cy="548640"/>
          </a:xfrm>
          <a:prstGeom prst="ellipse">
            <a:avLst/>
          </a:prstGeom>
          <a:solidFill>
            <a:srgbClr val="E3EEFA"/>
          </a:solidFill>
          <a:ln w="12700">
            <a:solidFill>
              <a:srgbClr val="E3EE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2594" y="1576426"/>
            <a:ext cx="285293" cy="285293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6766560" y="207568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识别与数据</a:t>
            </a:r>
            <a:endParaRPr lang="en-US" sz="1300" dirty="0"/>
          </a:p>
        </p:txBody>
      </p:sp>
      <p:sp>
        <p:nvSpPr>
          <p:cNvPr id="31" name="Text 25"/>
          <p:cNvSpPr txBox="1"/>
          <p:nvPr/>
        </p:nvSpPr>
        <p:spPr>
          <a:xfrm>
            <a:off x="6784848" y="2395728"/>
            <a:ext cx="1700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霜霉病识别、试拍数据、标注</a:t>
            </a:r>
            <a:endParaRPr lang="en-US" sz="950" dirty="0"/>
          </a:p>
        </p:txBody>
      </p:sp>
      <p:sp>
        <p:nvSpPr>
          <p:cNvPr id="32" name="Text 26"/>
          <p:cNvSpPr txBox="1"/>
          <p:nvPr/>
        </p:nvSpPr>
        <p:spPr>
          <a:xfrm>
            <a:off x="6766560" y="28163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8A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【待填：姓名 · 专业】</a:t>
            </a:r>
            <a:endParaRPr lang="en-US" sz="950" dirty="0"/>
          </a:p>
        </p:txBody>
      </p:sp>
      <p:sp>
        <p:nvSpPr>
          <p:cNvPr id="33" name="Shape 27"/>
          <p:cNvSpPr/>
          <p:nvPr/>
        </p:nvSpPr>
        <p:spPr>
          <a:xfrm>
            <a:off x="502920" y="3401568"/>
            <a:ext cx="384048" cy="384048"/>
          </a:xfrm>
          <a:prstGeom prst="ellipse">
            <a:avLst/>
          </a:prstGeom>
          <a:solidFill>
            <a:srgbClr val="E3EEFA"/>
          </a:solidFill>
          <a:ln w="12700">
            <a:solidFill>
              <a:srgbClr val="E3EEFA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092" y="3493740"/>
            <a:ext cx="199705" cy="199705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960120" y="340156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大棚场地：秋茬试拍、春茬整茬跟踪</a:t>
            </a:r>
            <a:endParaRPr lang="en-US" sz="1050" dirty="0"/>
          </a:p>
        </p:txBody>
      </p:sp>
      <p:sp>
        <p:nvSpPr>
          <p:cNvPr id="36" name="Shape 29"/>
          <p:cNvSpPr/>
          <p:nvPr/>
        </p:nvSpPr>
        <p:spPr>
          <a:xfrm>
            <a:off x="3246120" y="3401568"/>
            <a:ext cx="384048" cy="384048"/>
          </a:xfrm>
          <a:prstGeom prst="ellipse">
            <a:avLst/>
          </a:prstGeom>
          <a:solidFill>
            <a:srgbClr val="E3EEFA"/>
          </a:solidFill>
          <a:ln w="12700">
            <a:solidFill>
              <a:srgbClr val="E3EEFA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8292" y="3493740"/>
            <a:ext cx="199705" cy="199705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3703320" y="340156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农技专家：复核阈值与人工结论</a:t>
            </a:r>
            <a:endParaRPr lang="en-US" sz="1050" dirty="0"/>
          </a:p>
        </p:txBody>
      </p:sp>
      <p:sp>
        <p:nvSpPr>
          <p:cNvPr id="39" name="Shape 31"/>
          <p:cNvSpPr/>
          <p:nvPr/>
        </p:nvSpPr>
        <p:spPr>
          <a:xfrm>
            <a:off x="5989320" y="3401568"/>
            <a:ext cx="384048" cy="384048"/>
          </a:xfrm>
          <a:prstGeom prst="ellipse">
            <a:avLst/>
          </a:prstGeom>
          <a:solidFill>
            <a:srgbClr val="E3EEFA"/>
          </a:solidFill>
          <a:ln w="12700">
            <a:solidFill>
              <a:srgbClr val="E3EEFA"/>
            </a:solidFill>
            <a:prstDash val="solid"/>
          </a:ln>
        </p:spPr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1492" y="3493740"/>
            <a:ext cx="199705" cy="199705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6446520" y="340156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经费：【待填】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5089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11430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2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感谢各位评委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463040" y="2103120"/>
            <a:ext cx="621792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9D2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463040" y="2103120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8A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挑对时机，拍到叶背，认准每一株，只把值得看的推给人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0" y="28803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巡知 AgriScout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37744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A5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960120" y="274320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2F6FB5"/>
          </a:solidFill>
          <a:ln w="12700">
            <a:solidFill>
              <a:srgbClr val="2F6FB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27432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备用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2179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备用 A · 观察依据与先例</a:t>
            </a:r>
            <a:endParaRPr lang="en-US" sz="2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98448"/>
          <a:ext cx="81381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749040"/>
                <a:gridCol w="23774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依据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F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F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我们怎么用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F5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为什么看叶背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早期征兆和确诊特征集中在下部叶片的叶背（APS 黄瓜霜霉病诊断指南等）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低位仰拍 + 补光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为什么看清晨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部分征兆只在清晨高湿时明显；夜间结露加重病情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前夜湿润 ≥4 小时排清晨窗口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适宜发病条件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 15–25℃、相对湿度 85% 以上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环境指数的适宜小时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CN221048423U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温室黄瓜叶部病害巡检与识别机器人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「小车 + 识别」不当创新点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US11483471B2（Viewnetic）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补光仰拍叶背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「仰拍叶背」不当创新点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Frontiers 2026（农大 / 北大）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环境引导的三阶段早期检测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引用「健康 / 早期 / 明显」口径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5089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37744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A5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960120" y="274320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2F6FB5"/>
          </a:solidFill>
          <a:ln w="12700">
            <a:solidFill>
              <a:srgbClr val="2F6FB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27432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备用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2179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备用 B · 参数从哪里来</a:t>
            </a:r>
            <a:endParaRPr lang="en-US" sz="2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98448"/>
          <a:ext cx="81381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749040"/>
                <a:gridCol w="23774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参数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F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当前值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F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F5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叶背视角与补拍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正面 0°、叶背 35° / 50°；不合格 +5°，最多 3 次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经验初值，待试拍校准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图像质量 iq-rule-v1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清晰度、亮度、过曝 / 欠曝、逆光阈值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经验初值，待试拍校准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适宜 / 湿润小时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15–25℃ 且 RH≥85%；RH≥95% 或露点差 ≤1℃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带文献出处，待农技复核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清晨窗口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前夜湿润 ≥4 小时 → 次日 05:30–08:30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待试拍验证窗口是否存在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人工预算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每天 5 株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可按基地人手调整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补拍预算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随环境指数在 10%–25% 间变化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启发式，待校准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全覆盖 / 抽查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 天没看到必拍；每天抽 5%，至少 1 株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保证不因风险低少巡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5089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37744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A5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960120" y="274320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2F6FB5"/>
          </a:solidFill>
          <a:ln w="12700">
            <a:solidFill>
              <a:srgbClr val="2F6FB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27432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备用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2179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备用 C · 风险与应对</a:t>
            </a:r>
            <a:endParaRPr lang="en-US" sz="2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98448"/>
          <a:ext cx="813816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5029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风险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F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应对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F5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试拍窗口紧：秋茬约 11 月结束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 月备好软件；错过就转日光温室冬季采集，春茬整茬验证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过道窄、路况差（泥、软管、采收筐）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小车只承诺规整大棚；散户用手持杆式或手推式设备，同一套软件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散户大棚没电没网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质量判断在车上算，照片逐点落盘，有网时再上传；计划提前下载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参数未校准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所有阈值带出处、可配置；试拍后用实测替换，再跑离线比较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霜霉病识别还没做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识别完成前模型分只作占位，不是诊断；人工结论优先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模型漏掉新病灶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风险不减少巡检：低频全覆盖和随机抽查一直保留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5089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巡知 AgriScout 半决赛路演</dc:title>
  <dc:subject>PptxGenJS Presentation</dc:subject>
  <dc:creator>AgriScout 团队</dc:creator>
  <cp:lastModifiedBy>AgriScout 团队</cp:lastModifiedBy>
  <cp:revision>1</cp:revision>
  <dcterms:created xsi:type="dcterms:W3CDTF">2026-10-08T14:25:40Z</dcterms:created>
  <dcterms:modified xsi:type="dcterms:W3CDTF">2026-10-08T14:25:40Z</dcterms:modified>
</cp:coreProperties>
</file>